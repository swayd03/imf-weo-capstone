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9487551-cf54-6ab5-8c23-4b46852e6899}">
          <p14:sldIdLst>
            <p14:sldId id="256"/>
          </p14:sldIdLst>
        </p14:section>
        <p14:section name="1. Context &amp; Data" id="{af8d04e2-aadd-87d2-a48a-35e4f1ab2cc5}">
          <p14:sldIdLst>
            <p14:sldId id="257"/>
            <p14:sldId id="258"/>
            <p14:sldId id="259"/>
          </p14:sldIdLst>
        </p14:section>
        <p14:section name="2. Data Description" id="{0bcbee29-a7c0-bca9-f6de-649eea017f50}">
          <p14:sldIdLst>
            <p14:sldId id="260"/>
            <p14:sldId id="261"/>
          </p14:sldIdLst>
        </p14:section>
        <p14:section name="3. Regression &amp; Feature Selection" id="{eef4f45a-d201-be73-e126-b2a5631c379b}">
          <p14:sldIdLst>
            <p14:sldId id="262"/>
            <p14:sldId id="263"/>
            <p14:sldId id="264"/>
            <p14:sldId id="265"/>
            <p14:sldId id="266"/>
          </p14:sldIdLst>
        </p14:section>
        <p14:section name="4. Time Series Analysis" id="{53b8e509-1217-b03d-9223-eaecd43e9e46}">
          <p14:sldIdLst>
            <p14:sldId id="267"/>
            <p14:sldId id="268"/>
          </p14:sldIdLst>
        </p14:section>
        <p14:section name="5. Conclusions" id="{f8cc6a6e-e574-1a06-71e4-ae0080cd8c5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project answers two questions from one IMF dataset.
Part A is cross-sectional: which macroeconomic fundamentals determine a country's economic resilience score? Addressed with multiple linear regression, logistic regression and a decision tree.
Part B is longitudinal: where is India's nominal GDP heading to 2030? Addressed with moving average, single exponential smoothing and Holt's double exponential smoothing, with the IMF's own staff projection used as an independent benchmark.
The dataset is the April 2026 WEO vintage: 2016-2025 are realised outcomes, 2026-2030 are IMF staff forecasts. That split is what makes the forecast benchmark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Problem statement.
Part A is an explanatory / predictive modelling problem on panel data. The resilience score is a vendor-constructed composite with no published formula, so the regression work is effectively reverse-engineering which fundamentals the index rewards and penalises, and how strongly.
Part B is a univariate forecasting problem. India is chosen because it is the fastest-growing large economy in the panel and has a clean, strongly trending series with one sharp shock (2020), which makes it an ideal test of whether a method can handle trend.
The key design advantage: because the file contains both actuals and the IMF's own forward projections, the statistical forecast can be benchmarked against a forecast produced with country-desk judgement, policy assumptions and exchange-rate paths. The distance between the two is itself a measurable quantity, and it is interpreted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Variable selection.
Target design. The continuous resilience score supports OLS directly. A binary target is engineered at a threshold of 70 to support the classification methods the rubric asks for; that threshold yields a 34/66 class split, which is imbalanced enough to be realistic but balanced enough not to need resampling.
Expected signs are stated BEFORE estimation. This matters: it converts the regression from a fishing expedition into a test of economic priors, and every retained coefficient later matches its predicted sign.
The three exclusions are each for a different and defensible reason:
1. Real_Purchasing_Power_Growth is an exact algebraic identity of two features already in the model — demonstrated numerically in the notebook, not assumed. Leaving it in produces perfect multicollinearity.
2. Govt_Revenue and the two trade-volume series exceed 50% missing. Imputing a majority of a column would fabricate the majority of its information.
3. GDP_Growth_Momentum_3Y passes the VIF test but fails a validity test: it is a rolling mean including the current year, so it leaks contemporaneous information and would not be available in real time.
Unemployment, missing for 44% of rows (mostly small and low-income economies without labour-force surveys), is retained and imputed by country median then global median. This is flagged again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Data quality and classification.
Classification first. Every column is classified by measurement scale BEFORE any statistic is computed, because the scale determines what is legitimate. A mean is meaningful on ratio and interval variables but meaningless on nominal ones. Ratio statements - "twice as indebted" - are valid only on true ratio scales with a meaningful zero, so they are valid for debt and population but NOT for the resilience score (whose zero is arbitrary) or the current account (which crosses zero). This is exactly the distinction the rubric's data-classification row is testing.
Missingness audit. The chart ranks every column by the share of observations missing, with the 50% drop threshold marked. Three columns sit beyond it: Govt_Revenue_Pct_GDP at 61%, and both trade-volume series at 52%. These are dropped rather than imputed - imputing a majority of a column would mean the majority of its values are invented.
Unemployment sits at 43.9%, below the threshold, so it is retained and imputed: country median first, falling back to the global median where a country has no observations at all. The missingness is not random - it is concentrated in small and low-income economies that do not run labour-force surveys - which is why this is flagged again under limitations.
The cleaning funnel. 2,901 rows in the file, of which 1,953 are actuals for 2016-2025; forecast rows are excluded from model training because they are the IMF's projections, not realised outcomes, and training on them would mean learning the IMF's assumptions rather than the data. After dropping rows with missing values in the feature set, 1,890 rows across 192 countries remain - 97% of the usable panel, so the cleaning is not silently discarding a biased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Central tendency, dispersion and shape.
The four histograms show the target and its three eventual drivers, each with mean (solid) and median (dashed) marked.
Resilience score: moderately left-skewed at -1.06, mean 62.7 against median 64.9, standard deviation 14.9 points. The left tail comes from crisis country-years - deep recessions and debt distress. Worth being precise in the viva: this does NOT disqualify OLS, because least squares assumes normally distributed RESIDUALS, not a normally distributed target. The Q-Q plot later confirms the residuals are well behaved, and kurtosis of 1.99 is close to the normal value of 3, so there are no heavy tails.
Real GDP growth: tightly clustered around 3% with a long left tail from the 2020 pandemic contraction — the single largest synchronous shock in the panel.
Government debt: strongly right-skewed. The mean sits above the median because a minority of heavily indebted sovereigns stretch the upper tail.
Inflation: still right-skewed even after winsorising at the 1st and 99th percentiles. The raw series reaches 438% (Venezuela, Zimbabwe); without winsorising those episodes would dominate every least-squares fit through sheer leverage.
The coefficient of variation column is the practical diagnostic: where CV exceeds 100% — the current account and the fiscal balance — the variable straddles zero and the mean is not an informative summary. This is why those variables are described by spread rather than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Correlation.
The heatmap is masked to the lower triangle to avoid reading the same coefficient twice. Red is negative, blue positive.
Three variables dominate the relationship with the target: real GDP growth (r = +0.71), government gross debt (r = -0.61) and inflation (r = -0.53). The index therefore behaves like a conventional sovereign-strength composite — it rewards growth and penalises leverage and price instability.
The most interesting result is a near-zero one. log_GDP_Per_Capita correlates with resilience at only +0.04. Being a rich country does not, by itself, make an economy resilient on this measure: a wealthy, heavily indebted, slow-growing economy scores poorly, while a fast-growing low-income economy with modest debt scores well. This is counter-intuitive and it survives into the regression, where development level is the one variable backward elimination removes.
Among the predictors themselves, the strongest pair is growth against 3-year momentum. That is expected by construction, since momentum is a rolling mean containing the current year, and it is tested formally with VIF on the next slide.
Correlation is association, not causation, and these are pooled panel data — country-years are not independent observations. That caveat is carried through to the limitations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OLS and feature selection.
Model performance. Adjusted R² of 0.874 on training and 0.896 on the 25% hold-out. The hold-out figure being slightly HIGHER than training is conclusive evidence of no overfitting — the model generalises to country-years it never saw. Residual standard error is about 4.7 points on a 0-100 index, so a typical prediction lands within roughly ±9 points at 95% confidence. The F-statistic of about 1,402 with p &lt; 0.001 decisively rejects the null that the fundamentals are jointly irrelevant.
Feature selection. VIF was computed first: every value is below 2, so multicollinearity is not a statistical problem in this specification. Backward elimination at α = 0.05 then removes exactly one variable, log_GDP_Per_Capita, at p = 0.38 — consistent with its near-zero correlation on the previous slide.
Effect sizes. The left chart shows standardised coefficients, which make features with different units comparable. Real GDP growth dominates at +0.62 standard deviations of resilience per standard deviation of growth; government debt follows at -0.43 and inflation at -0.35. The remaining four retained features are statistically significant but economically small, all below 0.06 in absolute terms — significance and importance are not the same thing, and with 1,890 observations trivial effects clear the significance bar easily.
The right panel plots predicted against actual on hold-out data; points track the 45-degree line tightly across the full range of the index.
Diagnostics (in the notebook): residuals centre on zero, are close to normal, and the Durbin-Watson statistic is near 2. The mild S-shape in the Q-Q tails reflects the hard 0-100 bounds of the index, which no linear model can respect — a known limitation that the decision tree handles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OLS assumption checks.
This slide exists because reporting an R-squared without testing the assumptions behind it is the most common error in applied regression. Four assumptions, tested honestly:
1. LINEARITY - satisfied. The residuals-versus-fitted panel shows a formless cloud centred on zero with no funnel and no curve. If the model were missing a non-linear term, that panel would show systematic curvature.
2. INDEPENDENCE - satisfied in the pooled sample. Durbin-Watson is 1.990, essentially the ideal value of 2. Caveat worth volunteering: DW on pooled panel data is a weaker test than on a pure time series, because observations are grouped by country. This is why clustered standard errors appear in the limitations.
3. NO MULTICOLLINEARITY - satisfied. Every VIF is below 2, far under the conventional threshold of 5, so each coefficient is separately identified and the standard errors are not inflated.
4. NORMALITY OF RESIDUALS - REJECTED, and I am reporting that rather than hiding it. Jarque-Bera is highly significant; residual skew is only 0.40 but kurtosis is 9.57 against the normal value of 3. The residuals are roughly symmetric but heavy-tailed, driven by crisis country-years the linear model cannot reach - the same observations that bound the index at 0 and 100.
Why this does not invalidate the model, which is the question to expect: normality of residuals is NOT required for OLS to be unbiased or efficient. The Gauss-Markov theorem delivers BLUE without it. Normality is needed only for exact small-sample t and F inference, and with n = 1,417 the central limit theorem makes the coefficient standard errors reliable regardless. The honest statement is that the point estimates and significance tests stand, while prediction INTERVALS for individual countries would be too narrow in the 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Logistic regression.
Setup. The binary target is High_Resilience = 1 when the score is at least 70, which is 34% of the sample. Features are standardised before fitting, so each coefficient is the change in log-odds per one standard deviation — this makes variables measured in different units directly comparable, and it is why the odds ratios can be ranked.
Performance. Accuracy 96.6% and ROC-AUC 0.995. The AUC is the stronger statistic here because the classes are imbalanced: a naive model predicting "not high" for everything would already score 66% accuracy, so accuracy alone would flatter any model. An AUC of 0.995 means that for a randomly chosen high-resilience and non-high-resilience pair, the model ranks them correctly over 99% of the time.
Confusion matrix. Errors are few and roughly balanced between false positives and false negatives, so the model is not simply exploiting the majority class.
Odds ratios. Growth raises the odds dramatically; debt and inflation each cut them by about two orders of magnitude per standard deviation. These are the same three variables the OLS model ranked first, second and third, arrived at through a completely different loss function — strong corroboration.
The remaining features have odds ratios close to 1.0, meaning essentially no effect on classification once growth, debt and inflation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Decision tree.
Why add a tree. OLS and logistic regression both impose a linear structure. A decision tree is non-parametric: it can capture thresholds and interactions neither linear model can see. If it returns the same feature ranking anyway, the ranking is a property of the data rather than of an assumption.
The tree structure, read top-down. The root splits on real GDP growth at 2.65%. On the low-growth branch it then asks whether debt is below 26.6% of GDP; on the high-growth branch, whether debt is below 52.9%. One level deeper, inflation enters on the high-growth, low-debt branch at a 7.2% threshold. These splits have a clean economic reading: the model is identifying fast-growing, moderately indebted, low-inflation economies as high-resilience, and it finds those thresholds without being told them.
Feature importance. Growth 0.50, debt 0.35, inflation 0.15 — together 99.5% of total Gini importance. The other five features score essentially zero. This is the single most striking confirmation of the OLS and logistic rankings.
Performance and model choice. 93.0% accuracy, AUC 0.970 — slightly BELOW the logistic model. That is informative rather than disappointing: when a flexible non-linear learner cannot beat a linear one, the true decision boundary is close to linear, so the simpler, more interpretable model should be preferred.
Pruning. The complexity curve shows training accuracy rising with depth while hold-out accuracy flattens after depth 5. Depth was selected on hold-out performance, not training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Consensus ranking.
Method. Each model produces importances on its own scale: standardised betas for OLS, log-odds coefficients for logistic regression, Gini importance for the tree. Each column is normalised so its largest value equals 1.00, then averaged. This prevents any one scale from dominating the comparison.
Result. Real GDP growth ranks first in all three, government debt second, inflation third. Nothing else exceeds 0.04 on the consensus scale.
Why this matters more than any single model. The three methods make genuinely different assumptions — one is linear in a continuous target, one is linear in log-odds of a binary target, one is non-parametric with no linearity assumption at all, and they optimise different loss functions. Agreement across all three is strong evidence that the ranking reflects structure in the data rather than an artefact of any one model's assumptions. If the tree had disagreed, the honest conclusion would have been that the linear models were imposing their shape on the answer.
The practical conclusion for Part A: the undocumented resilience index is, to a first approximation, a function of three things — how fast an economy grows, how much it owes, and how stable its prices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Series structure and model validation.
Structure first (top row). The level panel shows a strong upward trend with one sharp break in 2020. The first-difference panel shows positive and broadly widening annual increments in every year except 2020. The growth panel shows year-on-year nominal growth averaging about 6%. The diagnosis is unambiguous: this series has a strong, persistent trend and no seasonality (annual data cannot have any), so a trend-aware method should beat a level-only one. The method is chosen from the structure, not by trying everything.
Validation design. Train on 2016-2022 (7 observations), hold out 2023-2025 (3 observations), rank by MAPE. Evaluating on data the models never saw is what makes the ranking credible.
Results, in order. Moving average 19.79%, single exponential smoothing 12.59%, Holt additive trend 7.62%, Holt multiplicative trend 5.34%.
Why the ranking looks like this. The moving average and SES are both LEVEL-only methods — their forecast function is a horizontal line. Against a series compounding at 6.3% a year they fall further behind at every step of the horizon, so their error is dominated by systematic trend bias, not noise. SES beats the moving average only because its exponentially decaying weights put more mass on recent, higher observations.
Holt adds an explicit trend component and cuts error by about 62% versus the moving average. The multiplicative variant, which extrapolates a growth RATE rather than a constant dollar increment, does better still — the economically correct specification for a compounding nominal aggregate.
One honest caveat: with only ten annual observations the optimiser drives alpha towards zero, meaning maximum likelihood prefers a globally fitted trend line to recency weighting. This sample is at the lower limit of what smoothing methods can meaningfully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Forecast comparison, the key result of Part B.
What the chart shows. Black is the realised history. The flat blue and red lines are the moving average and SES forecasts — visibly useless for a trending series, which is the point. Green is Holt with an additive trend, purple is Holt with a multiplicative trend, gold is the IMF staff projection. The shaded band is the gap between additive Holt and the IMF.
The numbers. Holt additive reaches US$4,715 bn by 2030, 23.6% below the IMF's US$6,173 bn. Holt multiplicative reaches US$5,248 bn, 15.0% below.
Neither is a failure of the method. Together they DECOMPOSE the IMF's forecast into two separate assumptions:
First, functional form, worth roughly 9 percentage points. The IMF path compounds; a constant-increment model cannot track it. A forecaster using additive Holt would under-project India's economy by well over a trillion dollars by 2030 — a concrete demonstration that additive-versus-multiplicative trend matters far more over a five-year horizon than tuning alpha and beta.
Second, an assumed acceleration, worth the remaining 15 percentage points. Even after allowing for compounding, the IMF's implied nominal CAGR of 9.53% for 2025-2030 exceeds India's realised 6.27% CAGR over 2016-2025 — a 3.3 percentage point acceleration. The staff projection is therefore NOT simple trend persistence. It embeds judgement about currency stabilisation and sustained real growth that no univariate model can see in the history.
The generalisable insight: run the naive model alongside the official one. The smoothing forecast is the "no-news" baseline, and the distance between the two measures exactly how much judgement the institution has added. That is a quantity worth knowing before you rely on anyone's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 Conclusions.
Part A. The undocumented resilience index is largely recoverable from public macro fundamentals: 87% of its variance from seven variables, with hold-out performance matching training performance. Three variables do nearly all the work, and three model families with different assumptions agree on which three. The negative result on GDP per capita is worth emphasising in the viva: resilience on this index is about macro-policy outcomes, not about being a rich country.
Part B. Method selection must follow series structure. Diagnosing the trend first and choosing a trend-aware method cut error from 19.8% to 5.3% — a far larger gain than any amount of parameter tuning would deliver. The comparison against the IMF then yields the most interesting finding: the official projection embeds a 3.3 percentage point acceleration over the realised decade, which is visible only because a naive baseline was computed alongside it.
Limitations, stated honestly. Pooled panel observations are serially and cross-sectionally correlated, so reported standard errors are optimistic; a fixed-effects or clustered specification is the natural next step. Unemployment was imputed for 44% of rows, biasing that coefficient towards the median country. The resilience score is a vendor composite with an undocumented formula, so the regression recovers its construction as much as any economic law. And the time-series work rests on ten annual observations for a single country — too short for ARIMA or seasonal modelling, and the result should be re-tested across a wider cross-section of economies.
Being explicit about these is part of the analysis, not an apology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Close on the two sentences on screen rather than re-listing the findings - the audience has just seen them.
The notebook is the single source of truth: every number, table and chart in this deck comes from IMF_WEO_Capstone_Analysis.ipynb, with the random seed fixed at 42 so the whole analysis reproduces exactly on re-run.
The repository holds the notebook, the source CSV, the figures folder, this deck and a README stating the problem, the methods and the headline findings — so the whole analysis can be re-run end to end by anyone who opens it.
GitHub renders the README as the repository's front page and previews the notebook in the browser with all outputs intact, so a reviewer can read the entire analysis without downloading or installing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57400"/>
            <a:ext cx="10515600" cy="1463040"/>
          </a:xfrm>
          <a:prstGeom prst="rect">
            <a:avLst/>
          </a:prstGeom>
          <a:noFill/>
          <a:ln/>
        </p:spPr>
        <p:txBody>
          <a:bodyPr wrap="square" rtlCol="0"/>
          <a:lstStyle>
            <a:lvl1pPr indent="0" marL="0">
              <a:buNone/>
              <a:defRPr lang="en-US" sz="4200" b="1" dirty="0">
                <a:solidFill>
                  <a:schemeClr val="bg1"/>
                </a:solidFill>
              </a:defRPr>
            </a:lvl1pPr>
          </a:lstStyle>
          <a:p>
            <a:pPr indent="0" marL="0">
              <a:buNone/>
            </a:pPr>
            <a:endParaRPr lang="en-US" sz="4200" dirty="0"/>
          </a:p>
        </p:txBody>
      </p:sp>
      <p:sp>
        <p:nvSpPr>
          <p:cNvPr id="3" name="Text 0"/>
          <p:cNvSpPr/>
          <p:nvPr>
            <p:ph idx="101" type="body" hasCustomPrompt="1"/>
          </p:nvPr>
        </p:nvSpPr>
        <p:spPr>
          <a:xfrm>
            <a:off x="822960" y="3611880"/>
            <a:ext cx="10515600" cy="868680"/>
          </a:xfrm>
          <a:prstGeom prst="rect">
            <a:avLst/>
          </a:prstGeom>
          <a:noFill/>
          <a:ln/>
        </p:spPr>
        <p:txBody>
          <a:bodyPr wrap="square" rtlCol="0"/>
          <a:lstStyle>
            <a:lvl1pPr indent="0" marL="0">
              <a:buNone/>
              <a:defRPr lang="en-US" sz="1800" dirty="0">
                <a:solidFill>
                  <a:srgbClr val="CADCFC"/>
                </a:solidFill>
              </a:defRPr>
            </a:lvl1pPr>
          </a:lstStyle>
          <a:p>
            <a:pPr indent="0" marL="0">
              <a:buNone/>
            </a:pPr>
            <a:endParaRPr lang="en-US" sz="1800" dirty="0"/>
          </a:p>
        </p:txBody>
      </p:sp>
      <p:sp>
        <p:nvSpPr>
          <p:cNvPr id="4" name="Text 0"/>
          <p:cNvSpPr/>
          <p:nvPr>
            <p:ph idx="102" type="body" hasCustomPrompt="1"/>
          </p:nvPr>
        </p:nvSpPr>
        <p:spPr>
          <a:xfrm>
            <a:off x="822960" y="4526280"/>
            <a:ext cx="10515600" cy="502920"/>
          </a:xfrm>
          <a:prstGeom prst="rect">
            <a:avLst/>
          </a:prstGeom>
          <a:noFill/>
          <a:ln/>
        </p:spPr>
        <p:txBody>
          <a:bodyPr wrap="square" rtlCol="0"/>
          <a:lstStyle>
            <a:lvl1pPr indent="0" marL="0">
              <a:buNone/>
              <a:defRPr lang="en-US" sz="1300" dirty="0">
                <a:solidFill>
                  <a:srgbClr val="8FA6C4"/>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txBox="1"/>
          <p:nvPr/>
        </p:nvSpPr>
        <p:spPr>
          <a:xfrm>
            <a:off x="566928" y="6419088"/>
            <a:ext cx="7772400" cy="274320"/>
          </a:xfrm>
          <a:prstGeom prst="rect">
            <a:avLst/>
          </a:prstGeom>
          <a:noFill/>
          <a:ln/>
        </p:spPr>
        <p:txBody>
          <a:bodyPr wrap="square" rtlCol="0" anchor="ctr"/>
          <a:lstStyle/>
          <a:p>
            <a:pPr indent="0" marL="0">
              <a:buNone/>
            </a:pPr>
            <a:r>
              <a:rPr lang="en-US" sz="1000" dirty="0">
                <a:solidFill>
                  <a:srgbClr val="9AA7B6"/>
                </a:solidFill>
              </a:rPr>
              <a:t>Swadha Singh  ·  246101554  ·  Predictive Analytics Capstone  ·  IMF WEO April 2026</a:t>
            </a:r>
            <a:endParaRPr lang="en-US" sz="100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15600" cy="8229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topband"/>
          <p:cNvSpPr/>
          <p:nvPr/>
        </p:nvSpPr>
        <p:spPr>
          <a:xfrm>
            <a:off x="0" y="0"/>
            <a:ext cx="12191695" cy="822960"/>
          </a:xfrm>
          <a:prstGeom prst="rect">
            <a:avLst/>
          </a:prstGeom>
          <a:solidFill>
            <a:srgbClr val="0C1628"/>
          </a:solidFill>
          <a:ln w="12700">
            <a:solidFill>
              <a:srgbClr val="0C1628"/>
            </a:solidFill>
            <a:prstDash val="solid"/>
          </a:ln>
        </p:spPr>
      </p:sp>
      <p:sp>
        <p:nvSpPr>
          <p:cNvPr id="3" name="Text 1"/>
          <p:cNvSpPr txBox="1"/>
          <p:nvPr/>
        </p:nvSpPr>
        <p:spPr>
          <a:xfrm>
            <a:off x="822960" y="201168"/>
            <a:ext cx="7315200" cy="411480"/>
          </a:xfrm>
          <a:prstGeom prst="rect">
            <a:avLst/>
          </a:prstGeom>
          <a:noFill/>
          <a:ln/>
        </p:spPr>
        <p:txBody>
          <a:bodyPr wrap="square" lIns="0" tIns="0" rIns="0" bIns="0" rtlCol="0" anchor="ctr"/>
          <a:lstStyle/>
          <a:p>
            <a:pPr indent="0" marL="0">
              <a:buNone/>
            </a:pPr>
            <a:r>
              <a:rPr lang="en-US" sz="1300" b="1" spc="300" kern="0" dirty="0">
                <a:solidFill>
                  <a:srgbClr val="D4A017"/>
                </a:solidFill>
              </a:rPr>
              <a:t>CAPSTONE PROJECT</a:t>
            </a:r>
            <a:endParaRPr lang="en-US" sz="1300" dirty="0"/>
          </a:p>
        </p:txBody>
      </p:sp>
      <p:sp>
        <p:nvSpPr>
          <p:cNvPr id="4" name="Text 0"/>
          <p:cNvSpPr/>
          <p:nvPr>
            <p:ph idx="100" type="title" hasCustomPrompt="1"/>
          </p:nvPr>
        </p:nvSpPr>
        <p:spPr>
          <a:xfrm>
            <a:off x="822960" y="2057400"/>
            <a:ext cx="10515600" cy="1463040"/>
          </a:xfrm>
          <a:prstGeom prst="rect">
            <a:avLst/>
          </a:prstGeom>
          <a:noFill/>
          <a:ln/>
        </p:spPr>
        <p:txBody>
          <a:bodyPr wrap="square" rtlCol="0" anchor="b"/>
          <a:lstStyle/>
          <a:p>
            <a:pPr indent="0" marL="0">
              <a:buNone/>
            </a:pPr>
            <a:r>
              <a:rPr lang="en-US" sz="4200" b="1" dirty="0">
                <a:solidFill>
                  <a:schemeClr val="bg1"/>
                </a:solidFill>
              </a:rPr>
              <a:t>Drivers of National Economic Resilience</a:t>
            </a:r>
            <a:endParaRPr lang="en-US" sz="4200" dirty="0"/>
          </a:p>
        </p:txBody>
      </p:sp>
      <p:sp>
        <p:nvSpPr>
          <p:cNvPr id="5" name="Text 0"/>
          <p:cNvSpPr/>
          <p:nvPr>
            <p:ph idx="101" type="body" hasCustomPrompt="1"/>
          </p:nvPr>
        </p:nvSpPr>
        <p:spPr>
          <a:xfrm>
            <a:off x="822960" y="3611880"/>
            <a:ext cx="10515600" cy="868680"/>
          </a:xfrm>
          <a:prstGeom prst="rect">
            <a:avLst/>
          </a:prstGeom>
          <a:noFill/>
          <a:ln/>
        </p:spPr>
        <p:txBody>
          <a:bodyPr wrap="square" rtlCol="0" anchor="t"/>
          <a:lstStyle/>
          <a:p>
            <a:pPr indent="0" marL="0">
              <a:buNone/>
            </a:pPr>
            <a:r>
              <a:rPr lang="en-US" sz="1800" dirty="0">
                <a:solidFill>
                  <a:srgbClr val="CADCFC"/>
                </a:solidFill>
              </a:rPr>
              <a:t>A panel study of 196 economies, with a five-year forecast benchmarked against the IMF</a:t>
            </a:r>
            <a:endParaRPr lang="en-US" sz="1800" dirty="0"/>
          </a:p>
        </p:txBody>
      </p:sp>
      <p:sp>
        <p:nvSpPr>
          <p:cNvPr id="6" name="Text 0"/>
          <p:cNvSpPr/>
          <p:nvPr>
            <p:ph idx="102" type="body" hasCustomPrompt="1"/>
          </p:nvPr>
        </p:nvSpPr>
        <p:spPr>
          <a:xfrm>
            <a:off x="822960" y="4526280"/>
            <a:ext cx="10515600" cy="502920"/>
          </a:xfrm>
          <a:prstGeom prst="rect">
            <a:avLst/>
          </a:prstGeom>
          <a:noFill/>
          <a:ln/>
        </p:spPr>
        <p:txBody>
          <a:bodyPr wrap="square" rtlCol="0" anchor="t"/>
          <a:lstStyle/>
          <a:p>
            <a:pPr indent="0" marL="0">
              <a:buNone/>
            </a:pPr>
            <a:r>
              <a:rPr lang="en-US" sz="1300" b="1" dirty="0">
                <a:solidFill>
                  <a:srgbClr val="D4A017"/>
                </a:solidFill>
              </a:rPr>
              <a:t>Dataset   </a:t>
            </a:r>
            <a:pPr indent="0" marL="0">
              <a:buNone/>
            </a:pPr>
            <a:r>
              <a:rPr lang="en-US" sz="1300" dirty="0">
                <a:solidFill>
                  <a:srgbClr val="8FA6C4"/>
                </a:solidFill>
              </a:rPr>
              <a:t>IMF World Economic Outlook, April 2026 vintage  ·  2,901 country-year observations  ·  25 variables  ·  2016–2030</a:t>
            </a:r>
            <a:endParaRPr lang="en-US" sz="1300" dirty="0"/>
          </a:p>
        </p:txBody>
      </p:sp>
      <p:sp>
        <p:nvSpPr>
          <p:cNvPr id="7" name="Text 5"/>
          <p:cNvSpPr txBox="1"/>
          <p:nvPr/>
        </p:nvSpPr>
        <p:spPr>
          <a:xfrm>
            <a:off x="822960" y="5321808"/>
            <a:ext cx="3291840" cy="274320"/>
          </a:xfrm>
          <a:prstGeom prst="rect">
            <a:avLst/>
          </a:prstGeom>
          <a:noFill/>
          <a:ln/>
        </p:spPr>
        <p:txBody>
          <a:bodyPr wrap="square" lIns="0" tIns="0" rIns="0" bIns="0" rtlCol="0" anchor="ctr"/>
          <a:lstStyle/>
          <a:p>
            <a:pPr indent="0" marL="0">
              <a:buNone/>
            </a:pPr>
            <a:r>
              <a:rPr lang="en-US" sz="1000" b="1" spc="200" kern="0" dirty="0">
                <a:solidFill>
                  <a:srgbClr val="D4A017"/>
                </a:solidFill>
              </a:rPr>
              <a:t>SUBMITTED BY</a:t>
            </a:r>
            <a:endParaRPr lang="en-US" sz="1000" dirty="0"/>
          </a:p>
        </p:txBody>
      </p:sp>
      <p:sp>
        <p:nvSpPr>
          <p:cNvPr id="8" name="Text 6"/>
          <p:cNvSpPr txBox="1"/>
          <p:nvPr/>
        </p:nvSpPr>
        <p:spPr>
          <a:xfrm>
            <a:off x="822960" y="5596128"/>
            <a:ext cx="3291840" cy="310896"/>
          </a:xfrm>
          <a:prstGeom prst="rect">
            <a:avLst/>
          </a:prstGeom>
          <a:noFill/>
          <a:ln/>
        </p:spPr>
        <p:txBody>
          <a:bodyPr wrap="square" lIns="0" tIns="0" rIns="0" bIns="0" rtlCol="0" anchor="ctr"/>
          <a:lstStyle/>
          <a:p>
            <a:pPr indent="0" marL="0">
              <a:buNone/>
            </a:pPr>
            <a:r>
              <a:rPr lang="en-US" sz="1400" b="1" dirty="0">
                <a:solidFill>
                  <a:srgbClr val="FFFFFF"/>
                </a:solidFill>
              </a:rPr>
              <a:t>Swadha Singh</a:t>
            </a:r>
            <a:endParaRPr lang="en-US" sz="1400" dirty="0"/>
          </a:p>
        </p:txBody>
      </p:sp>
      <p:sp>
        <p:nvSpPr>
          <p:cNvPr id="9" name="Text 7"/>
          <p:cNvSpPr txBox="1"/>
          <p:nvPr/>
        </p:nvSpPr>
        <p:spPr>
          <a:xfrm>
            <a:off x="822960" y="5888736"/>
            <a:ext cx="3291840" cy="292608"/>
          </a:xfrm>
          <a:prstGeom prst="rect">
            <a:avLst/>
          </a:prstGeom>
          <a:noFill/>
          <a:ln/>
        </p:spPr>
        <p:txBody>
          <a:bodyPr wrap="square" lIns="0" tIns="0" rIns="0" bIns="0" rtlCol="0" anchor="ctr"/>
          <a:lstStyle/>
          <a:p>
            <a:pPr indent="0" marL="0">
              <a:buNone/>
            </a:pPr>
            <a:r>
              <a:rPr lang="en-US" sz="1200" dirty="0">
                <a:solidFill>
                  <a:srgbClr val="8FA6C4"/>
                </a:solidFill>
              </a:rPr>
              <a:t>Student No. 246101554</a:t>
            </a:r>
            <a:endParaRPr lang="en-US" sz="1200" dirty="0"/>
          </a:p>
        </p:txBody>
      </p:sp>
      <p:sp>
        <p:nvSpPr>
          <p:cNvPr id="10" name="Text 8"/>
          <p:cNvSpPr txBox="1"/>
          <p:nvPr/>
        </p:nvSpPr>
        <p:spPr>
          <a:xfrm>
            <a:off x="4389120" y="5321808"/>
            <a:ext cx="3291840" cy="274320"/>
          </a:xfrm>
          <a:prstGeom prst="rect">
            <a:avLst/>
          </a:prstGeom>
          <a:noFill/>
          <a:ln/>
        </p:spPr>
        <p:txBody>
          <a:bodyPr wrap="square" lIns="0" tIns="0" rIns="0" bIns="0" rtlCol="0" anchor="ctr"/>
          <a:lstStyle/>
          <a:p>
            <a:pPr indent="0" marL="0">
              <a:buNone/>
            </a:pPr>
            <a:r>
              <a:rPr lang="en-US" sz="1000" b="1" spc="200" kern="0" dirty="0">
                <a:solidFill>
                  <a:srgbClr val="D4A017"/>
                </a:solidFill>
              </a:rPr>
              <a:t>COURSE</a:t>
            </a:r>
            <a:endParaRPr lang="en-US" sz="1000" dirty="0"/>
          </a:p>
        </p:txBody>
      </p:sp>
      <p:sp>
        <p:nvSpPr>
          <p:cNvPr id="11" name="Text 9"/>
          <p:cNvSpPr txBox="1"/>
          <p:nvPr/>
        </p:nvSpPr>
        <p:spPr>
          <a:xfrm>
            <a:off x="4389120" y="5596128"/>
            <a:ext cx="3291840" cy="310896"/>
          </a:xfrm>
          <a:prstGeom prst="rect">
            <a:avLst/>
          </a:prstGeom>
          <a:noFill/>
          <a:ln/>
        </p:spPr>
        <p:txBody>
          <a:bodyPr wrap="square" lIns="0" tIns="0" rIns="0" bIns="0" rtlCol="0" anchor="ctr"/>
          <a:lstStyle/>
          <a:p>
            <a:pPr indent="0" marL="0">
              <a:buNone/>
            </a:pPr>
            <a:r>
              <a:rPr lang="en-US" sz="1400" b="1" dirty="0">
                <a:solidFill>
                  <a:srgbClr val="FFFFFF"/>
                </a:solidFill>
              </a:rPr>
              <a:t>Predictive Analytics</a:t>
            </a:r>
            <a:endParaRPr lang="en-US" sz="1400" dirty="0"/>
          </a:p>
        </p:txBody>
      </p:sp>
      <p:sp>
        <p:nvSpPr>
          <p:cNvPr id="12" name="Text 10"/>
          <p:cNvSpPr txBox="1"/>
          <p:nvPr/>
        </p:nvSpPr>
        <p:spPr>
          <a:xfrm>
            <a:off x="4389120" y="5888736"/>
            <a:ext cx="3291840" cy="292608"/>
          </a:xfrm>
          <a:prstGeom prst="rect">
            <a:avLst/>
          </a:prstGeom>
          <a:noFill/>
          <a:ln/>
        </p:spPr>
        <p:txBody>
          <a:bodyPr wrap="square" lIns="0" tIns="0" rIns="0" bIns="0" rtlCol="0" anchor="ctr"/>
          <a:lstStyle/>
          <a:p>
            <a:pPr indent="0" marL="0">
              <a:buNone/>
            </a:pPr>
            <a:r>
              <a:rPr lang="en-US" sz="1200" dirty="0">
                <a:solidFill>
                  <a:srgbClr val="8FA6C4"/>
                </a:solidFill>
              </a:rPr>
              <a:t>Capstone Project</a:t>
            </a:r>
            <a:endParaRPr lang="en-US" sz="1200" dirty="0"/>
          </a:p>
        </p:txBody>
      </p:sp>
      <p:sp>
        <p:nvSpPr>
          <p:cNvPr id="13" name="Text 11"/>
          <p:cNvSpPr txBox="1"/>
          <p:nvPr/>
        </p:nvSpPr>
        <p:spPr>
          <a:xfrm>
            <a:off x="7955280" y="5321808"/>
            <a:ext cx="3291840" cy="274320"/>
          </a:xfrm>
          <a:prstGeom prst="rect">
            <a:avLst/>
          </a:prstGeom>
          <a:noFill/>
          <a:ln/>
        </p:spPr>
        <p:txBody>
          <a:bodyPr wrap="square" lIns="0" tIns="0" rIns="0" bIns="0" rtlCol="0" anchor="ctr"/>
          <a:lstStyle/>
          <a:p>
            <a:pPr indent="0" marL="0">
              <a:buNone/>
            </a:pPr>
            <a:r>
              <a:rPr lang="en-US" sz="1000" b="1" spc="200" kern="0" dirty="0">
                <a:solidFill>
                  <a:srgbClr val="D4A017"/>
                </a:solidFill>
              </a:rPr>
              <a:t>FACULTY</a:t>
            </a:r>
            <a:endParaRPr lang="en-US" sz="1000" dirty="0"/>
          </a:p>
        </p:txBody>
      </p:sp>
      <p:sp>
        <p:nvSpPr>
          <p:cNvPr id="14" name="Text 12"/>
          <p:cNvSpPr txBox="1"/>
          <p:nvPr/>
        </p:nvSpPr>
        <p:spPr>
          <a:xfrm>
            <a:off x="7955280" y="5596128"/>
            <a:ext cx="3291840" cy="310896"/>
          </a:xfrm>
          <a:prstGeom prst="rect">
            <a:avLst/>
          </a:prstGeom>
          <a:noFill/>
          <a:ln/>
        </p:spPr>
        <p:txBody>
          <a:bodyPr wrap="square" lIns="0" tIns="0" rIns="0" bIns="0" rtlCol="0" anchor="ctr"/>
          <a:lstStyle/>
          <a:p>
            <a:pPr indent="0" marL="0">
              <a:buNone/>
            </a:pPr>
            <a:r>
              <a:rPr lang="en-US" sz="1400" b="1" dirty="0">
                <a:solidFill>
                  <a:srgbClr val="FFFFFF"/>
                </a:solidFill>
              </a:rPr>
              <a:t>Prof. Dr. Varsha P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Problem statement</a:t>
            </a:r>
            <a:endParaRPr lang="en-US" sz="3000" dirty="0"/>
          </a:p>
        </p:txBody>
      </p:sp>
      <p:sp>
        <p:nvSpPr>
          <p:cNvPr id="3" name="prob-card-A"/>
          <p:cNvSpPr/>
          <p:nvPr/>
        </p:nvSpPr>
        <p:spPr>
          <a:xfrm>
            <a:off x="566928" y="1234440"/>
            <a:ext cx="5321808" cy="3246120"/>
          </a:xfrm>
          <a:prstGeom prst="roundRect">
            <a:avLst>
              <a:gd name="adj" fmla="val 1972"/>
            </a:avLst>
          </a:prstGeom>
          <a:solidFill>
            <a:schemeClr val="bg2"/>
          </a:solidFill>
          <a:ln w="12700">
            <a:solidFill>
              <a:schemeClr val="bg2"/>
            </a:solidFill>
            <a:prstDash val="solid"/>
          </a:ln>
        </p:spPr>
      </p:sp>
      <p:sp>
        <p:nvSpPr>
          <p:cNvPr id="4" name="prob-badge-A"/>
          <p:cNvSpPr/>
          <p:nvPr/>
        </p:nvSpPr>
        <p:spPr>
          <a:xfrm>
            <a:off x="841248" y="1481328"/>
            <a:ext cx="566928" cy="566928"/>
          </a:xfrm>
          <a:prstGeom prst="ellipse">
            <a:avLst/>
          </a:prstGeom>
          <a:solidFill>
            <a:schemeClr val="accent1"/>
          </a:solidFill>
          <a:ln w="12700">
            <a:solidFill>
              <a:schemeClr val="accent1"/>
            </a:solidFill>
            <a:prstDash val="solid"/>
          </a:ln>
        </p:spPr>
      </p:sp>
      <p:sp>
        <p:nvSpPr>
          <p:cNvPr id="5" name="Text 3"/>
          <p:cNvSpPr txBox="1"/>
          <p:nvPr/>
        </p:nvSpPr>
        <p:spPr>
          <a:xfrm>
            <a:off x="841248" y="14813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A</a:t>
            </a:r>
            <a:endParaRPr lang="en-US" sz="2000" dirty="0"/>
          </a:p>
        </p:txBody>
      </p:sp>
      <p:sp>
        <p:nvSpPr>
          <p:cNvPr id="6" name="Text 4"/>
          <p:cNvSpPr txBox="1"/>
          <p:nvPr/>
        </p:nvSpPr>
        <p:spPr>
          <a:xfrm>
            <a:off x="1554480" y="1463040"/>
            <a:ext cx="4114800" cy="621792"/>
          </a:xfrm>
          <a:prstGeom prst="rect">
            <a:avLst/>
          </a:prstGeom>
          <a:noFill/>
          <a:ln/>
        </p:spPr>
        <p:txBody>
          <a:bodyPr wrap="square" lIns="0" tIns="0" rIns="0" bIns="0" rtlCol="0" anchor="ctr"/>
          <a:lstStyle/>
          <a:p>
            <a:pPr indent="0" marL="0">
              <a:buNone/>
            </a:pPr>
            <a:r>
              <a:rPr lang="en-US" sz="1700" b="1" dirty="0">
                <a:solidFill>
                  <a:schemeClr val="tx1"/>
                </a:solidFill>
              </a:rPr>
              <a:t>What makes an economy resilient?</a:t>
            </a:r>
            <a:endParaRPr lang="en-US" sz="1700" dirty="0"/>
          </a:p>
        </p:txBody>
      </p:sp>
      <p:sp>
        <p:nvSpPr>
          <p:cNvPr id="7" name="Text 5"/>
          <p:cNvSpPr txBox="1"/>
          <p:nvPr/>
        </p:nvSpPr>
        <p:spPr>
          <a:xfrm>
            <a:off x="859536" y="2249424"/>
            <a:ext cx="4754880" cy="1463040"/>
          </a:xfrm>
          <a:prstGeom prst="rect">
            <a:avLst/>
          </a:prstGeom>
          <a:noFill/>
          <a:ln/>
        </p:spPr>
        <p:txBody>
          <a:bodyPr wrap="square" lIns="0" tIns="0" rIns="0" bIns="0" rtlCol="0" anchor="t"/>
          <a:lstStyle/>
          <a:p>
            <a:pPr indent="0" marL="0">
              <a:lnSpc>
                <a:spcPct val="112000"/>
              </a:lnSpc>
              <a:buNone/>
            </a:pPr>
            <a:r>
              <a:rPr lang="en-US" sz="1250" dirty="0">
                <a:solidFill>
                  <a:srgbClr val="3D4B5C"/>
                </a:solidFill>
              </a:rPr>
              <a:t>The dataset assigns every country-year a composite Economic Resilience Score (0–100), but its construction is undocumented. Which fundamentals drive it, how much can be explained, and can a country be classified as high-resilience from its fundamentals alone?</a:t>
            </a:r>
            <a:endParaRPr lang="en-US" sz="1250" dirty="0"/>
          </a:p>
        </p:txBody>
      </p:sp>
      <p:sp>
        <p:nvSpPr>
          <p:cNvPr id="8" name="Text 6"/>
          <p:cNvSpPr txBox="1"/>
          <p:nvPr/>
        </p:nvSpPr>
        <p:spPr>
          <a:xfrm>
            <a:off x="859536" y="3840480"/>
            <a:ext cx="4754880" cy="384048"/>
          </a:xfrm>
          <a:prstGeom prst="rect">
            <a:avLst/>
          </a:prstGeom>
          <a:noFill/>
          <a:ln/>
        </p:spPr>
        <p:txBody>
          <a:bodyPr wrap="square" lIns="0" tIns="0" rIns="0" bIns="0" rtlCol="0" anchor="ctr"/>
          <a:lstStyle/>
          <a:p>
            <a:pPr indent="0" marL="0">
              <a:buNone/>
            </a:pPr>
            <a:r>
              <a:rPr lang="en-US" sz="1150" b="1" i="1" dirty="0">
                <a:solidFill>
                  <a:schemeClr val="accent1"/>
                </a:solidFill>
              </a:rPr>
              <a:t>OLS · Logistic regression · Decision tree</a:t>
            </a:r>
            <a:endParaRPr lang="en-US" sz="1150" dirty="0"/>
          </a:p>
        </p:txBody>
      </p:sp>
      <p:sp>
        <p:nvSpPr>
          <p:cNvPr id="9" name="prob-card-B"/>
          <p:cNvSpPr/>
          <p:nvPr/>
        </p:nvSpPr>
        <p:spPr>
          <a:xfrm>
            <a:off x="6309360" y="1234440"/>
            <a:ext cx="5321808" cy="3246120"/>
          </a:xfrm>
          <a:prstGeom prst="roundRect">
            <a:avLst>
              <a:gd name="adj" fmla="val 1972"/>
            </a:avLst>
          </a:prstGeom>
          <a:solidFill>
            <a:schemeClr val="bg2"/>
          </a:solidFill>
          <a:ln w="12700">
            <a:solidFill>
              <a:schemeClr val="bg2"/>
            </a:solidFill>
            <a:prstDash val="solid"/>
          </a:ln>
        </p:spPr>
      </p:sp>
      <p:sp>
        <p:nvSpPr>
          <p:cNvPr id="10" name="prob-badge-B"/>
          <p:cNvSpPr/>
          <p:nvPr/>
        </p:nvSpPr>
        <p:spPr>
          <a:xfrm>
            <a:off x="6583680" y="1481328"/>
            <a:ext cx="566928" cy="566928"/>
          </a:xfrm>
          <a:prstGeom prst="ellipse">
            <a:avLst/>
          </a:prstGeom>
          <a:solidFill>
            <a:schemeClr val="accent3"/>
          </a:solidFill>
          <a:ln w="12700">
            <a:solidFill>
              <a:schemeClr val="accent3"/>
            </a:solidFill>
            <a:prstDash val="solid"/>
          </a:ln>
        </p:spPr>
      </p:sp>
      <p:sp>
        <p:nvSpPr>
          <p:cNvPr id="11" name="Text 9"/>
          <p:cNvSpPr txBox="1"/>
          <p:nvPr/>
        </p:nvSpPr>
        <p:spPr>
          <a:xfrm>
            <a:off x="6583680" y="14813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rPr>
              <a:t>B</a:t>
            </a:r>
            <a:endParaRPr lang="en-US" sz="2000" dirty="0"/>
          </a:p>
        </p:txBody>
      </p:sp>
      <p:sp>
        <p:nvSpPr>
          <p:cNvPr id="12" name="Text 10"/>
          <p:cNvSpPr txBox="1"/>
          <p:nvPr/>
        </p:nvSpPr>
        <p:spPr>
          <a:xfrm>
            <a:off x="7296912" y="1463040"/>
            <a:ext cx="4114800" cy="621792"/>
          </a:xfrm>
          <a:prstGeom prst="rect">
            <a:avLst/>
          </a:prstGeom>
          <a:noFill/>
          <a:ln/>
        </p:spPr>
        <p:txBody>
          <a:bodyPr wrap="square" lIns="0" tIns="0" rIns="0" bIns="0" rtlCol="0" anchor="ctr"/>
          <a:lstStyle/>
          <a:p>
            <a:pPr indent="0" marL="0">
              <a:buNone/>
            </a:pPr>
            <a:r>
              <a:rPr lang="en-US" sz="1700" b="1" dirty="0">
                <a:solidFill>
                  <a:schemeClr val="tx1"/>
                </a:solidFill>
              </a:rPr>
              <a:t>Where is India's output heading?</a:t>
            </a:r>
            <a:endParaRPr lang="en-US" sz="1700" dirty="0"/>
          </a:p>
        </p:txBody>
      </p:sp>
      <p:sp>
        <p:nvSpPr>
          <p:cNvPr id="13" name="Text 11"/>
          <p:cNvSpPr txBox="1"/>
          <p:nvPr/>
        </p:nvSpPr>
        <p:spPr>
          <a:xfrm>
            <a:off x="6601968" y="2249424"/>
            <a:ext cx="4754880" cy="1463040"/>
          </a:xfrm>
          <a:prstGeom prst="rect">
            <a:avLst/>
          </a:prstGeom>
          <a:noFill/>
          <a:ln/>
        </p:spPr>
        <p:txBody>
          <a:bodyPr wrap="square" lIns="0" tIns="0" rIns="0" bIns="0" rtlCol="0" anchor="t"/>
          <a:lstStyle/>
          <a:p>
            <a:pPr indent="0" marL="0">
              <a:lnSpc>
                <a:spcPct val="112000"/>
              </a:lnSpc>
              <a:buNone/>
            </a:pPr>
            <a:r>
              <a:rPr lang="en-US" sz="1250" dirty="0">
                <a:solidFill>
                  <a:srgbClr val="3D4B5C"/>
                </a:solidFill>
              </a:rPr>
              <a:t>Can classical smoothing methods reproduce the nominal GDP trajectory of the fastest-growing large economy in the panel — and how does a purely statistical forecast for 2026–2030 compare with the IMF's own judgement-based staff projection?</a:t>
            </a:r>
            <a:endParaRPr lang="en-US" sz="1250" dirty="0"/>
          </a:p>
        </p:txBody>
      </p:sp>
      <p:sp>
        <p:nvSpPr>
          <p:cNvPr id="14" name="Text 12"/>
          <p:cNvSpPr txBox="1"/>
          <p:nvPr/>
        </p:nvSpPr>
        <p:spPr>
          <a:xfrm>
            <a:off x="6601968" y="3840480"/>
            <a:ext cx="4754880" cy="384048"/>
          </a:xfrm>
          <a:prstGeom prst="rect">
            <a:avLst/>
          </a:prstGeom>
          <a:noFill/>
          <a:ln/>
        </p:spPr>
        <p:txBody>
          <a:bodyPr wrap="square" lIns="0" tIns="0" rIns="0" bIns="0" rtlCol="0" anchor="ctr"/>
          <a:lstStyle/>
          <a:p>
            <a:pPr indent="0" marL="0">
              <a:buNone/>
            </a:pPr>
            <a:r>
              <a:rPr lang="en-US" sz="1150" b="1" i="1" dirty="0">
                <a:solidFill>
                  <a:schemeClr val="accent3"/>
                </a:solidFill>
              </a:rPr>
              <a:t>Moving average · SES · Holt's double exponential</a:t>
            </a:r>
            <a:endParaRPr lang="en-US" sz="1150" dirty="0"/>
          </a:p>
        </p:txBody>
      </p:sp>
      <p:sp>
        <p:nvSpPr>
          <p:cNvPr id="15" name="Text 13"/>
          <p:cNvSpPr txBox="1"/>
          <p:nvPr/>
        </p:nvSpPr>
        <p:spPr>
          <a:xfrm>
            <a:off x="566928" y="4681728"/>
            <a:ext cx="11064240" cy="329184"/>
          </a:xfrm>
          <a:prstGeom prst="rect">
            <a:avLst/>
          </a:prstGeom>
          <a:noFill/>
          <a:ln/>
        </p:spPr>
        <p:txBody>
          <a:bodyPr wrap="square" lIns="0" tIns="0" rIns="0" bIns="0" rtlCol="0" anchor="ctr"/>
          <a:lstStyle/>
          <a:p>
            <a:pPr indent="0" marL="0">
              <a:buNone/>
            </a:pPr>
            <a:r>
              <a:rPr lang="en-US" sz="1500" b="1" dirty="0">
                <a:solidFill>
                  <a:schemeClr val="tx1"/>
                </a:solidFill>
              </a:rPr>
              <a:t>Why this dataset answers both</a:t>
            </a:r>
            <a:endParaRPr lang="en-US" sz="1500" dirty="0"/>
          </a:p>
        </p:txBody>
      </p:sp>
      <p:sp>
        <p:nvSpPr>
          <p:cNvPr id="16" name="Text 14"/>
          <p:cNvSpPr txBox="1"/>
          <p:nvPr/>
        </p:nvSpPr>
        <p:spPr>
          <a:xfrm>
            <a:off x="566928" y="5010912"/>
            <a:ext cx="11064240" cy="658368"/>
          </a:xfrm>
          <a:prstGeom prst="rect">
            <a:avLst/>
          </a:prstGeom>
          <a:noFill/>
          <a:ln/>
        </p:spPr>
        <p:txBody>
          <a:bodyPr wrap="square" lIns="0" tIns="0" rIns="0" bIns="0" rtlCol="0" anchor="ctr"/>
          <a:lstStyle/>
          <a:p>
            <a:pPr indent="0" marL="0">
              <a:lnSpc>
                <a:spcPct val="110000"/>
              </a:lnSpc>
              <a:buNone/>
            </a:pPr>
            <a:r>
              <a:rPr lang="en-US" sz="1250" dirty="0">
                <a:solidFill>
                  <a:srgbClr val="3D4B5C"/>
                </a:solidFill>
              </a:rPr>
              <a:t>The April 2026 vintage contains realised outcomes for 2016–2025 and IMF staff projections for 2026–2030 in the same file. The historical block trains and validates every model; the projection block becomes an independent, institution-grade benchmark for Part B that no purely statistical exercise would otherwise have.</a:t>
            </a:r>
            <a:endParaRPr lang="en-US" sz="1250" dirty="0"/>
          </a:p>
        </p:txBody>
      </p:sp>
      <p:sp>
        <p:nvSpPr>
          <p:cNvPr id="17"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8"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One dataset, two complementary questions — an explanatory cross-section and a validated forecast.</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Feature and target variables</a:t>
            </a:r>
            <a:endParaRPr lang="en-US" sz="3000" dirty="0"/>
          </a:p>
        </p:txBody>
      </p:sp>
      <p:sp>
        <p:nvSpPr>
          <p:cNvPr id="3" name="Text 1"/>
          <p:cNvSpPr txBox="1"/>
          <p:nvPr/>
        </p:nvSpPr>
        <p:spPr>
          <a:xfrm>
            <a:off x="566928" y="1152144"/>
            <a:ext cx="5029200" cy="274320"/>
          </a:xfrm>
          <a:prstGeom prst="rect">
            <a:avLst/>
          </a:prstGeom>
          <a:noFill/>
          <a:ln/>
        </p:spPr>
        <p:txBody>
          <a:bodyPr wrap="square" lIns="0" tIns="0" rIns="0" bIns="0" rtlCol="0" anchor="ctr"/>
          <a:lstStyle/>
          <a:p>
            <a:pPr indent="0" marL="0">
              <a:buNone/>
            </a:pPr>
            <a:r>
              <a:rPr lang="en-US" sz="1100" b="1" spc="150" kern="0" dirty="0">
                <a:solidFill>
                  <a:schemeClr val="accent2"/>
                </a:solidFill>
              </a:rPr>
              <a:t>TARGET VARIABLES</a:t>
            </a:r>
            <a:endParaRPr lang="en-US" sz="1100" dirty="0"/>
          </a:p>
        </p:txBody>
      </p:sp>
      <p:graphicFrame>
        <p:nvGraphicFramePr>
          <p:cNvPr id="4" name="target-table"/>
          <p:cNvGraphicFramePr>
            <a:graphicFrameLocks noGrp="1"/>
          </p:cNvGraphicFramePr>
          <p:nvPr>
            <p:extLst>
              <p:ext uri="{D42A27DB-BD31-4B8C-83A1-F6EECF244321}">
                <p14:modId xmlns:p14="http://schemas.microsoft.com/office/powerpoint/2010/main" val="1579011935"/>
              </p:ext>
            </p:extLst>
          </p:nvPr>
        </p:nvGraphicFramePr>
        <p:xfrm>
          <a:off x="566928" y="1463040"/>
          <a:ext cx="5321808" cy="914400"/>
        </p:xfrm>
        <a:graphic>
          <a:graphicData uri="http://schemas.openxmlformats.org/drawingml/2006/table">
            <a:tbl>
              <a:tblPr/>
              <a:tblGrid>
                <a:gridCol w="1417320"/>
                <a:gridCol w="2578608"/>
                <a:gridCol w="1325880"/>
              </a:tblGrid>
              <a:tr h="292608">
                <a:tc>
                  <a:txBody>
                    <a:bodyPr/>
                    <a:lstStyle/>
                    <a:p>
                      <a:pPr indent="0" marL="0">
                        <a:buNone/>
                      </a:pPr>
                      <a:r>
                        <a:rPr lang="en-US" sz="1050" b="1" dirty="0">
                          <a:solidFill>
                            <a:schemeClr val="tx1"/>
                          </a:solidFill>
                        </a:rPr>
                        <a:t>Model</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b="1" dirty="0">
                          <a:solidFill>
                            <a:schemeClr val="tx1"/>
                          </a:solidFill>
                        </a:rPr>
                        <a:t>Target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b="1" dirty="0">
                          <a:solidFill>
                            <a:schemeClr val="tx1"/>
                          </a:solidFill>
                        </a:rPr>
                        <a:t>Type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92608">
                <a:tc>
                  <a:txBody>
                    <a:bodyPr/>
                    <a:lstStyle/>
                    <a:p>
                      <a:pPr indent="0" marL="0">
                        <a:buNone/>
                      </a:pPr>
                      <a:r>
                        <a:rPr lang="en-US" sz="1050" dirty="0">
                          <a:solidFill>
                            <a:schemeClr val="tx1"/>
                          </a:solidFill>
                        </a:rPr>
                        <a:t>OLS regression</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Economic_Resilience_Score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Continuous 0–100</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92608">
                <a:tc>
                  <a:txBody>
                    <a:bodyPr/>
                    <a:lstStyle/>
                    <a:p>
                      <a:pPr indent="0" marL="0">
                        <a:buNone/>
                      </a:pPr>
                      <a:r>
                        <a:rPr lang="en-US" sz="1050" dirty="0">
                          <a:solidFill>
                            <a:schemeClr val="tx1"/>
                          </a:solidFill>
                        </a:rPr>
                        <a:t>Logistic / tree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High_Resilience (score ≥ 70)</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Binary, engineered</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92608">
                <a:tc>
                  <a:txBody>
                    <a:bodyPr/>
                    <a:lstStyle/>
                    <a:p>
                      <a:pPr indent="0" marL="0">
                        <a:buNone/>
                      </a:pPr>
                      <a:r>
                        <a:rPr lang="en-US" sz="1050" dirty="0">
                          <a:solidFill>
                            <a:schemeClr val="tx1"/>
                          </a:solidFill>
                        </a:rPr>
                        <a:t>Time series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GDP_Nominal_USD_Bn (India)</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Continuous, annual</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309360" y="1152144"/>
            <a:ext cx="5394960"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FEATURE VARIABLES (PREDICTORS)</a:t>
            </a:r>
            <a:endParaRPr lang="en-US" sz="1100" dirty="0"/>
          </a:p>
        </p:txBody>
      </p:sp>
      <p:graphicFrame>
        <p:nvGraphicFramePr>
          <p:cNvPr id="7" name="feature-table"/>
          <p:cNvGraphicFramePr>
            <a:graphicFrameLocks noGrp="1"/>
          </p:cNvGraphicFramePr>
          <p:nvPr>
            <p:extLst>
              <p:ext uri="{D42A27DB-BD31-4B8C-83A1-F6EECF244321}">
                <p14:modId xmlns:p14="http://schemas.microsoft.com/office/powerpoint/2010/main" val="1579011935"/>
              </p:ext>
            </p:extLst>
          </p:nvPr>
        </p:nvGraphicFramePr>
        <p:xfrm>
          <a:off x="6309360" y="1463040"/>
          <a:ext cx="5321808" cy="914400"/>
        </p:xfrm>
        <a:graphic>
          <a:graphicData uri="http://schemas.openxmlformats.org/drawingml/2006/table">
            <a:tbl>
              <a:tblPr/>
              <a:tblGrid>
                <a:gridCol w="2212848"/>
                <a:gridCol w="2514600"/>
                <a:gridCol w="594360"/>
              </a:tblGrid>
              <a:tr h="269748">
                <a:tc>
                  <a:txBody>
                    <a:bodyPr/>
                    <a:lstStyle/>
                    <a:p>
                      <a:pPr indent="0" marL="0">
                        <a:buNone/>
                      </a:pPr>
                      <a:r>
                        <a:rPr lang="en-US" sz="1050" b="1" dirty="0">
                          <a:solidFill>
                            <a:schemeClr val="tx1"/>
                          </a:solidFill>
                        </a:rPr>
                        <a:t>Feature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b="1" dirty="0">
                          <a:solidFill>
                            <a:schemeClr val="tx1"/>
                          </a:solidFill>
                        </a:rPr>
                        <a:t>Economic meaning</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b="1" dirty="0">
                          <a:solidFill>
                            <a:schemeClr val="tx1"/>
                          </a:solidFill>
                        </a:rPr>
                        <a:t>Exp.</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Real_GDP_Growth_Pct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Annual real output growth</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Inflation_CPI_Pct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Consumer price inflation</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Govt_Gross_Debt_Pct_GDP</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Sovereign leverage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Govt_Net_Lending_Pct_GDP</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Fiscal balance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Current_Account_Pct_GDP</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External balance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Unemployment_Rate_Pct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Labour-market slack</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log_GDP_Per_Capita</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Development level</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69748">
                <a:tc>
                  <a:txBody>
                    <a:bodyPr/>
                    <a:lstStyle/>
                    <a:p>
                      <a:pPr indent="0" marL="0">
                        <a:buNone/>
                      </a:pPr>
                      <a:r>
                        <a:rPr lang="en-US" sz="1050" dirty="0">
                          <a:solidFill>
                            <a:schemeClr val="tx1"/>
                          </a:solidFill>
                        </a:rPr>
                        <a:t>log_Population</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Economy size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66928" y="2962656"/>
            <a:ext cx="5321808" cy="292608"/>
          </a:xfrm>
          <a:prstGeom prst="rect">
            <a:avLst/>
          </a:prstGeom>
          <a:noFill/>
          <a:ln/>
        </p:spPr>
        <p:txBody>
          <a:bodyPr wrap="square" lIns="0" tIns="0" rIns="0" bIns="0" rtlCol="0" anchor="ctr"/>
          <a:lstStyle/>
          <a:p>
            <a:pPr indent="0" marL="0">
              <a:buNone/>
            </a:pPr>
            <a:r>
              <a:rPr lang="en-US" sz="1400" b="1" dirty="0">
                <a:solidFill>
                  <a:schemeClr val="tx1"/>
                </a:solidFill>
              </a:rPr>
              <a:t>Excluded by design</a:t>
            </a:r>
            <a:endParaRPr lang="en-US" sz="1400" dirty="0"/>
          </a:p>
        </p:txBody>
      </p:sp>
      <p:sp>
        <p:nvSpPr>
          <p:cNvPr id="8" name="Text 4"/>
          <p:cNvSpPr txBox="1"/>
          <p:nvPr/>
        </p:nvSpPr>
        <p:spPr>
          <a:xfrm>
            <a:off x="566928" y="3273552"/>
            <a:ext cx="5321808" cy="2286000"/>
          </a:xfrm>
          <a:prstGeom prst="rect">
            <a:avLst/>
          </a:prstGeom>
          <a:noFill/>
          <a:ln/>
        </p:spPr>
        <p:txBody>
          <a:bodyPr wrap="square" lIns="0" tIns="0" rIns="0" bIns="0" rtlCol="0" anchor="ctr"/>
          <a:lstStyle/>
          <a:p>
            <a:pPr indent="0" marL="0">
              <a:lnSpc>
                <a:spcPct val="108000"/>
              </a:lnSpc>
              <a:buNone/>
            </a:pPr>
            <a:r>
              <a:rPr lang="en-US" sz="1100" b="1" dirty="0">
                <a:solidFill>
                  <a:srgbClr val="3D4B5C"/>
                </a:solidFill>
              </a:rPr>
              <a:t>Real_Purchasing_Power_Growth</a:t>
            </a:r>
            <a:endParaRPr lang="en-US" sz="1100" dirty="0"/>
          </a:p>
          <a:p>
            <a:pPr indent="0" marL="0">
              <a:lnSpc>
                <a:spcPct val="108000"/>
              </a:lnSpc>
              <a:buNone/>
            </a:pPr>
            <a:r>
              <a:rPr lang="en-US" sz="1100" dirty="0">
                <a:solidFill>
                  <a:srgbClr val="3D4B5C"/>
                </a:solidFill>
              </a:rPr>
              <a:t>Verified to be the exact identity growth − inflation (max |residual| = 0 over 2,861 rows). Including it makes the design matrix singular.</a:t>
            </a:r>
            <a:endParaRPr lang="en-US" sz="1100" dirty="0"/>
          </a:p>
          <a:p>
            <a:pPr indent="0" marL="0">
              <a:lnSpc>
                <a:spcPct val="108000"/>
              </a:lnSpc>
              <a:buNone/>
            </a:pPr>
            <a:endParaRPr lang="en-US" sz="1100" dirty="0"/>
          </a:p>
          <a:p>
            <a:pPr indent="0" marL="0">
              <a:lnSpc>
                <a:spcPct val="108000"/>
              </a:lnSpc>
              <a:buNone/>
            </a:pPr>
            <a:r>
              <a:rPr lang="en-US" sz="1100" b="1" dirty="0">
                <a:solidFill>
                  <a:srgbClr val="3D4B5C"/>
                </a:solidFill>
              </a:rPr>
              <a:t>Govt_Revenue · Import &amp; Export volumes</a:t>
            </a:r>
            <a:endParaRPr lang="en-US" sz="1100" dirty="0"/>
          </a:p>
          <a:p>
            <a:pPr indent="0" marL="0">
              <a:lnSpc>
                <a:spcPct val="108000"/>
              </a:lnSpc>
              <a:buNone/>
            </a:pPr>
            <a:r>
              <a:rPr lang="en-US" sz="1100" dirty="0">
                <a:solidFill>
                  <a:srgbClr val="3D4B5C"/>
                </a:solidFill>
              </a:rPr>
              <a:t>Missing for 61%, 52% and 52% of rows. Imputing a majority of a column manufactures data.</a:t>
            </a:r>
            <a:endParaRPr lang="en-US" sz="1100" dirty="0"/>
          </a:p>
          <a:p>
            <a:pPr indent="0" marL="0">
              <a:lnSpc>
                <a:spcPct val="108000"/>
              </a:lnSpc>
              <a:buNone/>
            </a:pPr>
            <a:endParaRPr lang="en-US" sz="1100" dirty="0"/>
          </a:p>
          <a:p>
            <a:pPr indent="0" marL="0">
              <a:lnSpc>
                <a:spcPct val="108000"/>
              </a:lnSpc>
              <a:buNone/>
            </a:pPr>
            <a:r>
              <a:rPr lang="en-US" sz="1100" b="1" dirty="0">
                <a:solidFill>
                  <a:srgbClr val="3D4B5C"/>
                </a:solidFill>
              </a:rPr>
              <a:t>GDP_Growth_Momentum_3Y</a:t>
            </a:r>
            <a:endParaRPr lang="en-US" sz="1100" dirty="0"/>
          </a:p>
          <a:p>
            <a:pPr indent="0" marL="0">
              <a:lnSpc>
                <a:spcPct val="108000"/>
              </a:lnSpc>
              <a:buNone/>
            </a:pPr>
            <a:r>
              <a:rPr lang="en-US" sz="1100" dirty="0">
                <a:solidFill>
                  <a:srgbClr val="3D4B5C"/>
                </a:solidFill>
              </a:rPr>
              <a:t>A 3-year rolling mean that contains year t — not observable in real time at the moment of forecast.</a:t>
            </a:r>
            <a:endParaRPr lang="en-US" sz="1100" dirty="0"/>
          </a:p>
        </p:txBody>
      </p:sp>
      <p:sp>
        <p:nvSpPr>
          <p:cNvPr id="9" name="stat-countries"/>
          <p:cNvSpPr/>
          <p:nvPr/>
        </p:nvSpPr>
        <p:spPr>
          <a:xfrm>
            <a:off x="6309360" y="4041648"/>
            <a:ext cx="1664208" cy="1371600"/>
          </a:xfrm>
          <a:prstGeom prst="roundRect">
            <a:avLst>
              <a:gd name="adj" fmla="val 4667"/>
            </a:avLst>
          </a:prstGeom>
          <a:solidFill>
            <a:schemeClr val="bg2"/>
          </a:solidFill>
          <a:ln w="12700">
            <a:solidFill>
              <a:schemeClr val="bg2"/>
            </a:solidFill>
            <a:prstDash val="solid"/>
          </a:ln>
        </p:spPr>
      </p:sp>
      <p:sp>
        <p:nvSpPr>
          <p:cNvPr id="10" name="Text 6"/>
          <p:cNvSpPr txBox="1"/>
          <p:nvPr/>
        </p:nvSpPr>
        <p:spPr>
          <a:xfrm>
            <a:off x="6419088" y="4169664"/>
            <a:ext cx="1444752" cy="658368"/>
          </a:xfrm>
          <a:prstGeom prst="rect">
            <a:avLst/>
          </a:prstGeom>
          <a:noFill/>
          <a:ln/>
        </p:spPr>
        <p:txBody>
          <a:bodyPr wrap="square" lIns="0" tIns="0" rIns="0" bIns="0" rtlCol="0" anchor="ctr"/>
          <a:lstStyle/>
          <a:p>
            <a:pPr algn="ctr" indent="0" marL="0">
              <a:buNone/>
            </a:pPr>
            <a:r>
              <a:rPr lang="en-US" sz="3200" b="1" dirty="0">
                <a:solidFill>
                  <a:schemeClr val="accent1"/>
                </a:solidFill>
              </a:rPr>
              <a:t>196</a:t>
            </a:r>
            <a:endParaRPr lang="en-US" sz="3200" dirty="0"/>
          </a:p>
        </p:txBody>
      </p:sp>
      <p:sp>
        <p:nvSpPr>
          <p:cNvPr id="11" name="Text 7"/>
          <p:cNvSpPr txBox="1"/>
          <p:nvPr/>
        </p:nvSpPr>
        <p:spPr>
          <a:xfrm>
            <a:off x="6419088" y="4828032"/>
            <a:ext cx="1444752" cy="475488"/>
          </a:xfrm>
          <a:prstGeom prst="rect">
            <a:avLst/>
          </a:prstGeom>
          <a:noFill/>
          <a:ln/>
        </p:spPr>
        <p:txBody>
          <a:bodyPr wrap="square" lIns="0" tIns="0" rIns="0" bIns="0" rtlCol="0" anchor="t"/>
          <a:lstStyle/>
          <a:p>
            <a:pPr algn="ctr" indent="0" marL="0">
              <a:buNone/>
            </a:pPr>
            <a:r>
              <a:rPr lang="en-US" sz="1100" dirty="0">
                <a:solidFill>
                  <a:srgbClr val="5A6B7D"/>
                </a:solidFill>
              </a:rPr>
              <a:t>countries</a:t>
            </a:r>
            <a:endParaRPr lang="en-US" sz="1100" dirty="0"/>
          </a:p>
        </p:txBody>
      </p:sp>
      <p:sp>
        <p:nvSpPr>
          <p:cNvPr id="12" name="stat-modelling ro"/>
          <p:cNvSpPr/>
          <p:nvPr/>
        </p:nvSpPr>
        <p:spPr>
          <a:xfrm>
            <a:off x="8156448" y="4041648"/>
            <a:ext cx="1664208" cy="1371600"/>
          </a:xfrm>
          <a:prstGeom prst="roundRect">
            <a:avLst>
              <a:gd name="adj" fmla="val 4667"/>
            </a:avLst>
          </a:prstGeom>
          <a:solidFill>
            <a:schemeClr val="bg2"/>
          </a:solidFill>
          <a:ln w="12700">
            <a:solidFill>
              <a:schemeClr val="bg2"/>
            </a:solidFill>
            <a:prstDash val="solid"/>
          </a:ln>
        </p:spPr>
      </p:sp>
      <p:sp>
        <p:nvSpPr>
          <p:cNvPr id="13" name="Text 9"/>
          <p:cNvSpPr txBox="1"/>
          <p:nvPr/>
        </p:nvSpPr>
        <p:spPr>
          <a:xfrm>
            <a:off x="8266176" y="4169664"/>
            <a:ext cx="1444752" cy="658368"/>
          </a:xfrm>
          <a:prstGeom prst="rect">
            <a:avLst/>
          </a:prstGeom>
          <a:noFill/>
          <a:ln/>
        </p:spPr>
        <p:txBody>
          <a:bodyPr wrap="square" lIns="0" tIns="0" rIns="0" bIns="0" rtlCol="0" anchor="ctr"/>
          <a:lstStyle/>
          <a:p>
            <a:pPr algn="ctr" indent="0" marL="0">
              <a:buNone/>
            </a:pPr>
            <a:r>
              <a:rPr lang="en-US" sz="3200" b="1" dirty="0">
                <a:solidFill>
                  <a:schemeClr val="accent1"/>
                </a:solidFill>
              </a:rPr>
              <a:t>1,890</a:t>
            </a:r>
            <a:endParaRPr lang="en-US" sz="3200" dirty="0"/>
          </a:p>
        </p:txBody>
      </p:sp>
      <p:sp>
        <p:nvSpPr>
          <p:cNvPr id="14" name="Text 10"/>
          <p:cNvSpPr txBox="1"/>
          <p:nvPr/>
        </p:nvSpPr>
        <p:spPr>
          <a:xfrm>
            <a:off x="8266176" y="4828032"/>
            <a:ext cx="1444752" cy="475488"/>
          </a:xfrm>
          <a:prstGeom prst="rect">
            <a:avLst/>
          </a:prstGeom>
          <a:noFill/>
          <a:ln/>
        </p:spPr>
        <p:txBody>
          <a:bodyPr wrap="square" lIns="0" tIns="0" rIns="0" bIns="0" rtlCol="0" anchor="t"/>
          <a:lstStyle/>
          <a:p>
            <a:pPr algn="ctr" indent="0" marL="0">
              <a:buNone/>
            </a:pPr>
            <a:r>
              <a:rPr lang="en-US" sz="1100" dirty="0">
                <a:solidFill>
                  <a:srgbClr val="5A6B7D"/>
                </a:solidFill>
              </a:rPr>
              <a:t>modelling rows</a:t>
            </a:r>
            <a:endParaRPr lang="en-US" sz="1100" dirty="0"/>
          </a:p>
        </p:txBody>
      </p:sp>
      <p:sp>
        <p:nvSpPr>
          <p:cNvPr id="15" name="stat-training win"/>
          <p:cNvSpPr/>
          <p:nvPr/>
        </p:nvSpPr>
        <p:spPr>
          <a:xfrm>
            <a:off x="10003536" y="4041648"/>
            <a:ext cx="1627632" cy="1371600"/>
          </a:xfrm>
          <a:prstGeom prst="roundRect">
            <a:avLst>
              <a:gd name="adj" fmla="val 4667"/>
            </a:avLst>
          </a:prstGeom>
          <a:solidFill>
            <a:schemeClr val="bg2"/>
          </a:solidFill>
          <a:ln w="12700">
            <a:solidFill>
              <a:schemeClr val="bg2"/>
            </a:solidFill>
            <a:prstDash val="solid"/>
          </a:ln>
        </p:spPr>
      </p:sp>
      <p:sp>
        <p:nvSpPr>
          <p:cNvPr id="16" name="Text 12"/>
          <p:cNvSpPr txBox="1"/>
          <p:nvPr/>
        </p:nvSpPr>
        <p:spPr>
          <a:xfrm>
            <a:off x="10113264" y="4169664"/>
            <a:ext cx="1408176" cy="658368"/>
          </a:xfrm>
          <a:prstGeom prst="rect">
            <a:avLst/>
          </a:prstGeom>
          <a:noFill/>
          <a:ln/>
        </p:spPr>
        <p:txBody>
          <a:bodyPr wrap="square" lIns="0" tIns="0" rIns="0" bIns="0" rtlCol="0" anchor="ctr"/>
          <a:lstStyle/>
          <a:p>
            <a:pPr algn="ctr" indent="0" marL="0">
              <a:buNone/>
            </a:pPr>
            <a:r>
              <a:rPr lang="en-US" sz="2300" b="1" dirty="0">
                <a:solidFill>
                  <a:schemeClr val="accent3"/>
                </a:solidFill>
              </a:rPr>
              <a:t>2016–25</a:t>
            </a:r>
            <a:endParaRPr lang="en-US" sz="2300" dirty="0"/>
          </a:p>
        </p:txBody>
      </p:sp>
      <p:sp>
        <p:nvSpPr>
          <p:cNvPr id="17" name="Text 13"/>
          <p:cNvSpPr txBox="1"/>
          <p:nvPr/>
        </p:nvSpPr>
        <p:spPr>
          <a:xfrm>
            <a:off x="10113264" y="4828032"/>
            <a:ext cx="1408176" cy="475488"/>
          </a:xfrm>
          <a:prstGeom prst="rect">
            <a:avLst/>
          </a:prstGeom>
          <a:noFill/>
          <a:ln/>
        </p:spPr>
        <p:txBody>
          <a:bodyPr wrap="square" lIns="0" tIns="0" rIns="0" bIns="0" rtlCol="0" anchor="t"/>
          <a:lstStyle/>
          <a:p>
            <a:pPr algn="ctr" indent="0" marL="0">
              <a:buNone/>
            </a:pPr>
            <a:r>
              <a:rPr lang="en-US" sz="1100" dirty="0">
                <a:solidFill>
                  <a:srgbClr val="5A6B7D"/>
                </a:solidFill>
              </a:rPr>
              <a:t>training window</a:t>
            </a:r>
            <a:endParaRPr lang="en-US" sz="1100" dirty="0"/>
          </a:p>
        </p:txBody>
      </p:sp>
      <p:sp>
        <p:nvSpPr>
          <p:cNvPr id="18"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9"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Three columns excluded on construction and missingness grounds before any model is fitted — exclusions are justified, not convenient.</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Data quality and variable classification</a:t>
            </a:r>
            <a:endParaRPr lang="en-US" sz="3000" dirty="0"/>
          </a:p>
        </p:txBody>
      </p:sp>
      <p:pic>
        <p:nvPicPr>
          <p:cNvPr id="3" name="Image 0" descr="figures/fig01_missingness.png">    </p:cNvPr>
          <p:cNvPicPr>
            <a:picLocks noChangeAspect="1"/>
          </p:cNvPicPr>
          <p:nvPr/>
        </p:nvPicPr>
        <p:blipFill>
          <a:blip r:embed="rId1"/>
          <a:stretch>
            <a:fillRect/>
          </a:stretch>
        </p:blipFill>
        <p:spPr>
          <a:xfrm>
            <a:off x="566928" y="1250298"/>
            <a:ext cx="5760720" cy="2674908"/>
          </a:xfrm>
          <a:prstGeom prst="rect">
            <a:avLst/>
          </a:prstGeom>
        </p:spPr>
      </p:pic>
      <p:sp>
        <p:nvSpPr>
          <p:cNvPr id="4" name="Text 1"/>
          <p:cNvSpPr txBox="1"/>
          <p:nvPr/>
        </p:nvSpPr>
        <p:spPr>
          <a:xfrm>
            <a:off x="566928" y="4078224"/>
            <a:ext cx="5760720" cy="566928"/>
          </a:xfrm>
          <a:prstGeom prst="rect">
            <a:avLst/>
          </a:prstGeom>
          <a:noFill/>
          <a:ln/>
        </p:spPr>
        <p:txBody>
          <a:bodyPr wrap="square" lIns="0" tIns="0" rIns="0" bIns="0" rtlCol="0" anchor="ctr"/>
          <a:lstStyle/>
          <a:p>
            <a:pPr indent="0" marL="0">
              <a:lnSpc>
                <a:spcPct val="110000"/>
              </a:lnSpc>
              <a:buNone/>
            </a:pPr>
            <a:r>
              <a:rPr lang="en-US" sz="1100" dirty="0">
                <a:solidFill>
                  <a:srgbClr val="3D4B5C"/>
                </a:solidFill>
              </a:rPr>
              <a:t>Three columns sit beyond the 50% threshold and are dropped; unemployment (43.9%) is imputed by country median, then global median.</a:t>
            </a:r>
            <a:endParaRPr lang="en-US" sz="1100" dirty="0"/>
          </a:p>
        </p:txBody>
      </p:sp>
      <p:sp>
        <p:nvSpPr>
          <p:cNvPr id="5" name="Text 2"/>
          <p:cNvSpPr txBox="1"/>
          <p:nvPr/>
        </p:nvSpPr>
        <p:spPr>
          <a:xfrm>
            <a:off x="6583680" y="1170432"/>
            <a:ext cx="5047488" cy="310896"/>
          </a:xfrm>
          <a:prstGeom prst="rect">
            <a:avLst/>
          </a:prstGeom>
          <a:noFill/>
          <a:ln/>
        </p:spPr>
        <p:txBody>
          <a:bodyPr wrap="square" lIns="0" tIns="0" rIns="0" bIns="0" rtlCol="0" anchor="ctr"/>
          <a:lstStyle/>
          <a:p>
            <a:pPr indent="0" marL="0">
              <a:buNone/>
            </a:pPr>
            <a:r>
              <a:rPr lang="en-US" sz="1400" b="1" dirty="0">
                <a:solidFill>
                  <a:schemeClr val="tx1"/>
                </a:solidFill>
              </a:rPr>
              <a:t>Classification by measurement scale</a:t>
            </a:r>
            <a:endParaRPr lang="en-US" sz="1400" dirty="0"/>
          </a:p>
        </p:txBody>
      </p:sp>
      <p:graphicFrame>
        <p:nvGraphicFramePr>
          <p:cNvPr id="5" name="class-table"/>
          <p:cNvGraphicFramePr>
            <a:graphicFrameLocks noGrp="1"/>
          </p:cNvGraphicFramePr>
          <p:nvPr>
            <p:extLst>
              <p:ext uri="{D42A27DB-BD31-4B8C-83A1-F6EECF244321}">
                <p14:modId xmlns:p14="http://schemas.microsoft.com/office/powerpoint/2010/main" val="1579011935"/>
              </p:ext>
            </p:extLst>
          </p:nvPr>
        </p:nvGraphicFramePr>
        <p:xfrm>
          <a:off x="6583680" y="1517904"/>
          <a:ext cx="5047488" cy="914400"/>
        </p:xfrm>
        <a:graphic>
          <a:graphicData uri="http://schemas.openxmlformats.org/drawingml/2006/table">
            <a:tbl>
              <a:tblPr/>
              <a:tblGrid>
                <a:gridCol w="914400"/>
                <a:gridCol w="411480"/>
                <a:gridCol w="3721608"/>
              </a:tblGrid>
              <a:tr h="301752">
                <a:tc>
                  <a:txBody>
                    <a:bodyPr/>
                    <a:lstStyle/>
                    <a:p>
                      <a:pPr indent="0" marL="0">
                        <a:buNone/>
                      </a:pPr>
                      <a:r>
                        <a:rPr lang="en-US" sz="1000" b="1" dirty="0">
                          <a:solidFill>
                            <a:schemeClr val="tx1"/>
                          </a:solidFill>
                        </a:rPr>
                        <a:t>Scale</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b="1" dirty="0">
                          <a:solidFill>
                            <a:schemeClr val="tx1"/>
                          </a:solidFill>
                        </a:rPr>
                        <a:t>n</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b="1" dirty="0">
                          <a:solidFill>
                            <a:schemeClr val="tx1"/>
                          </a:solidFill>
                        </a:rPr>
                        <a:t>Examples</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chemeClr val="tx1"/>
                          </a:solidFill>
                        </a:rPr>
                        <a:t>Nominal</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rPr>
                        <a:t>3</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iso_code, country_name, data_vintage</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chemeClr val="tx1"/>
                          </a:solidFill>
                        </a:rPr>
                        <a:t>Binary</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rPr>
                        <a:t>2</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is_forecast, is_aggregate_region</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chemeClr val="tx1"/>
                          </a:solidFill>
                        </a:rPr>
                        <a:t>Interval</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rPr>
                        <a:t>6</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Resilience score, current account, fiscal balance</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chemeClr val="tx1"/>
                          </a:solidFill>
                        </a:rPr>
                        <a:t>Ratio</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rPr>
                        <a:t>13</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GDP levels, growth, debt, population, CPI</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00" dirty="0">
                          <a:solidFill>
                            <a:schemeClr val="tx1"/>
                          </a:solidFill>
                        </a:rPr>
                        <a:t>Date</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rPr>
                        <a:t>1</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000" dirty="0">
                          <a:solidFill>
                            <a:schemeClr val="tx1"/>
                          </a:solidFill>
                        </a:rPr>
                        <a:t>scrape_date</a:t>
                      </a:r>
                      <a:endParaRPr lang="en-US" sz="100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583680" y="3401568"/>
            <a:ext cx="5047488" cy="274320"/>
          </a:xfrm>
          <a:prstGeom prst="rect">
            <a:avLst/>
          </a:prstGeom>
          <a:noFill/>
          <a:ln/>
        </p:spPr>
        <p:txBody>
          <a:bodyPr wrap="square" lIns="0" tIns="0" rIns="0" bIns="0" rtlCol="0" anchor="ctr"/>
          <a:lstStyle/>
          <a:p>
            <a:pPr indent="0" marL="0">
              <a:buNone/>
            </a:pPr>
            <a:r>
              <a:rPr lang="en-US" sz="1300" b="1" dirty="0">
                <a:solidFill>
                  <a:schemeClr val="tx1"/>
                </a:solidFill>
              </a:rPr>
              <a:t>Why scale matters</a:t>
            </a:r>
            <a:endParaRPr lang="en-US" sz="1300" dirty="0"/>
          </a:p>
        </p:txBody>
      </p:sp>
      <p:sp>
        <p:nvSpPr>
          <p:cNvPr id="8" name="Text 4"/>
          <p:cNvSpPr txBox="1"/>
          <p:nvPr/>
        </p:nvSpPr>
        <p:spPr>
          <a:xfrm>
            <a:off x="6583680" y="3694176"/>
            <a:ext cx="5047488" cy="950976"/>
          </a:xfrm>
          <a:prstGeom prst="rect">
            <a:avLst/>
          </a:prstGeom>
          <a:noFill/>
          <a:ln/>
        </p:spPr>
        <p:txBody>
          <a:bodyPr wrap="square" lIns="0" tIns="0" rIns="0" bIns="0" rtlCol="0" anchor="ctr"/>
          <a:lstStyle/>
          <a:p>
            <a:pPr indent="0" marL="0">
              <a:lnSpc>
                <a:spcPct val="108000"/>
              </a:lnSpc>
              <a:buNone/>
            </a:pPr>
            <a:r>
              <a:rPr lang="en-US" sz="1050" dirty="0">
                <a:solidFill>
                  <a:srgbClr val="3D4B5C"/>
                </a:solidFill>
              </a:rPr>
              <a:t>Measurement scale decides which statistic is legitimate. A mean is meaningful on ratio and interval variables but not on nominal ones; ratios ("twice as indebted") are valid only on ratio scales — not on the resilience score or the current account, which have arbitrary or sign-crossing zeros.</a:t>
            </a:r>
            <a:endParaRPr lang="en-US" sz="1050" dirty="0"/>
          </a:p>
        </p:txBody>
      </p:sp>
      <p:sp>
        <p:nvSpPr>
          <p:cNvPr id="9" name="funnel-0"/>
          <p:cNvSpPr/>
          <p:nvPr/>
        </p:nvSpPr>
        <p:spPr>
          <a:xfrm>
            <a:off x="566928" y="4809744"/>
            <a:ext cx="2642616" cy="749808"/>
          </a:xfrm>
          <a:prstGeom prst="roundRect">
            <a:avLst>
              <a:gd name="adj" fmla="val 7317"/>
            </a:avLst>
          </a:prstGeom>
          <a:solidFill>
            <a:schemeClr val="bg2"/>
          </a:solidFill>
          <a:ln w="12700">
            <a:solidFill>
              <a:schemeClr val="bg2"/>
            </a:solidFill>
            <a:prstDash val="solid"/>
          </a:ln>
        </p:spPr>
      </p:sp>
      <p:sp>
        <p:nvSpPr>
          <p:cNvPr id="10" name="Text 6"/>
          <p:cNvSpPr txBox="1"/>
          <p:nvPr/>
        </p:nvSpPr>
        <p:spPr>
          <a:xfrm>
            <a:off x="694944" y="4809744"/>
            <a:ext cx="1005840" cy="749808"/>
          </a:xfrm>
          <a:prstGeom prst="rect">
            <a:avLst/>
          </a:prstGeom>
          <a:noFill/>
          <a:ln/>
        </p:spPr>
        <p:txBody>
          <a:bodyPr wrap="square" lIns="0" tIns="0" rIns="0" bIns="0" rtlCol="0" anchor="ctr"/>
          <a:lstStyle/>
          <a:p>
            <a:pPr algn="ctr" indent="0" marL="0">
              <a:buNone/>
            </a:pPr>
            <a:r>
              <a:rPr lang="en-US" sz="1800" b="1" dirty="0">
                <a:solidFill>
                  <a:schemeClr val="accent1"/>
                </a:solidFill>
              </a:rPr>
              <a:t>2,901</a:t>
            </a:r>
            <a:endParaRPr lang="en-US" sz="1800" dirty="0"/>
          </a:p>
        </p:txBody>
      </p:sp>
      <p:sp>
        <p:nvSpPr>
          <p:cNvPr id="11" name="Text 7"/>
          <p:cNvSpPr txBox="1"/>
          <p:nvPr/>
        </p:nvSpPr>
        <p:spPr>
          <a:xfrm>
            <a:off x="1719072" y="4809744"/>
            <a:ext cx="1371600" cy="749808"/>
          </a:xfrm>
          <a:prstGeom prst="rect">
            <a:avLst/>
          </a:prstGeom>
          <a:noFill/>
          <a:ln/>
        </p:spPr>
        <p:txBody>
          <a:bodyPr wrap="square" lIns="0" tIns="0" rIns="0" bIns="0" rtlCol="0" anchor="ctr"/>
          <a:lstStyle/>
          <a:p>
            <a:pPr indent="0" marL="0">
              <a:buNone/>
            </a:pPr>
            <a:r>
              <a:rPr lang="en-US" sz="1000" dirty="0">
                <a:solidFill>
                  <a:srgbClr val="5A6B7D"/>
                </a:solidFill>
              </a:rPr>
              <a:t>rows in file</a:t>
            </a:r>
            <a:endParaRPr lang="en-US" sz="1000" dirty="0"/>
          </a:p>
        </p:txBody>
      </p:sp>
      <p:sp>
        <p:nvSpPr>
          <p:cNvPr id="12" name="funnel-1"/>
          <p:cNvSpPr/>
          <p:nvPr/>
        </p:nvSpPr>
        <p:spPr>
          <a:xfrm>
            <a:off x="3392424" y="4809744"/>
            <a:ext cx="2642616" cy="749808"/>
          </a:xfrm>
          <a:prstGeom prst="roundRect">
            <a:avLst>
              <a:gd name="adj" fmla="val 7317"/>
            </a:avLst>
          </a:prstGeom>
          <a:solidFill>
            <a:schemeClr val="bg2"/>
          </a:solidFill>
          <a:ln w="12700">
            <a:solidFill>
              <a:schemeClr val="bg2"/>
            </a:solidFill>
            <a:prstDash val="solid"/>
          </a:ln>
        </p:spPr>
      </p:sp>
      <p:sp>
        <p:nvSpPr>
          <p:cNvPr id="13" name="Text 9"/>
          <p:cNvSpPr txBox="1"/>
          <p:nvPr/>
        </p:nvSpPr>
        <p:spPr>
          <a:xfrm>
            <a:off x="3520440" y="4809744"/>
            <a:ext cx="1005840" cy="749808"/>
          </a:xfrm>
          <a:prstGeom prst="rect">
            <a:avLst/>
          </a:prstGeom>
          <a:noFill/>
          <a:ln/>
        </p:spPr>
        <p:txBody>
          <a:bodyPr wrap="square" lIns="0" tIns="0" rIns="0" bIns="0" rtlCol="0" anchor="ctr"/>
          <a:lstStyle/>
          <a:p>
            <a:pPr algn="ctr" indent="0" marL="0">
              <a:buNone/>
            </a:pPr>
            <a:r>
              <a:rPr lang="en-US" sz="1800" b="1" dirty="0">
                <a:solidFill>
                  <a:schemeClr val="accent1"/>
                </a:solidFill>
              </a:rPr>
              <a:t>1,953</a:t>
            </a:r>
            <a:endParaRPr lang="en-US" sz="1800" dirty="0"/>
          </a:p>
        </p:txBody>
      </p:sp>
      <p:sp>
        <p:nvSpPr>
          <p:cNvPr id="14" name="Text 10"/>
          <p:cNvSpPr txBox="1"/>
          <p:nvPr/>
        </p:nvSpPr>
        <p:spPr>
          <a:xfrm>
            <a:off x="4544568" y="4809744"/>
            <a:ext cx="1371600" cy="749808"/>
          </a:xfrm>
          <a:prstGeom prst="rect">
            <a:avLst/>
          </a:prstGeom>
          <a:noFill/>
          <a:ln/>
        </p:spPr>
        <p:txBody>
          <a:bodyPr wrap="square" lIns="0" tIns="0" rIns="0" bIns="0" rtlCol="0" anchor="ctr"/>
          <a:lstStyle/>
          <a:p>
            <a:pPr indent="0" marL="0">
              <a:buNone/>
            </a:pPr>
            <a:r>
              <a:rPr lang="en-US" sz="1000" dirty="0">
                <a:solidFill>
                  <a:srgbClr val="5A6B7D"/>
                </a:solidFill>
              </a:rPr>
              <a:t>actuals 2016–25</a:t>
            </a:r>
            <a:endParaRPr lang="en-US" sz="1000" dirty="0"/>
          </a:p>
        </p:txBody>
      </p:sp>
      <p:sp>
        <p:nvSpPr>
          <p:cNvPr id="15" name="funnel-2"/>
          <p:cNvSpPr/>
          <p:nvPr/>
        </p:nvSpPr>
        <p:spPr>
          <a:xfrm>
            <a:off x="6217920" y="4809744"/>
            <a:ext cx="2642616" cy="749808"/>
          </a:xfrm>
          <a:prstGeom prst="roundRect">
            <a:avLst>
              <a:gd name="adj" fmla="val 7317"/>
            </a:avLst>
          </a:prstGeom>
          <a:solidFill>
            <a:schemeClr val="bg2"/>
          </a:solidFill>
          <a:ln w="12700">
            <a:solidFill>
              <a:schemeClr val="bg2"/>
            </a:solidFill>
            <a:prstDash val="solid"/>
          </a:ln>
        </p:spPr>
      </p:sp>
      <p:sp>
        <p:nvSpPr>
          <p:cNvPr id="16" name="Text 12"/>
          <p:cNvSpPr txBox="1"/>
          <p:nvPr/>
        </p:nvSpPr>
        <p:spPr>
          <a:xfrm>
            <a:off x="6345936" y="4809744"/>
            <a:ext cx="1005840" cy="749808"/>
          </a:xfrm>
          <a:prstGeom prst="rect">
            <a:avLst/>
          </a:prstGeom>
          <a:noFill/>
          <a:ln/>
        </p:spPr>
        <p:txBody>
          <a:bodyPr wrap="square" lIns="0" tIns="0" rIns="0" bIns="0" rtlCol="0" anchor="ctr"/>
          <a:lstStyle/>
          <a:p>
            <a:pPr algn="ctr" indent="0" marL="0">
              <a:buNone/>
            </a:pPr>
            <a:r>
              <a:rPr lang="en-US" sz="1800" b="1" dirty="0">
                <a:solidFill>
                  <a:schemeClr val="accent3"/>
                </a:solidFill>
              </a:rPr>
              <a:t>1,890</a:t>
            </a:r>
            <a:endParaRPr lang="en-US" sz="1800" dirty="0"/>
          </a:p>
        </p:txBody>
      </p:sp>
      <p:sp>
        <p:nvSpPr>
          <p:cNvPr id="17" name="Text 13"/>
          <p:cNvSpPr txBox="1"/>
          <p:nvPr/>
        </p:nvSpPr>
        <p:spPr>
          <a:xfrm>
            <a:off x="7370064" y="4809744"/>
            <a:ext cx="1371600" cy="749808"/>
          </a:xfrm>
          <a:prstGeom prst="rect">
            <a:avLst/>
          </a:prstGeom>
          <a:noFill/>
          <a:ln/>
        </p:spPr>
        <p:txBody>
          <a:bodyPr wrap="square" lIns="0" tIns="0" rIns="0" bIns="0" rtlCol="0" anchor="ctr"/>
          <a:lstStyle/>
          <a:p>
            <a:pPr indent="0" marL="0">
              <a:buNone/>
            </a:pPr>
            <a:r>
              <a:rPr lang="en-US" sz="1000" dirty="0">
                <a:solidFill>
                  <a:srgbClr val="5A6B7D"/>
                </a:solidFill>
              </a:rPr>
              <a:t>after cleaning</a:t>
            </a:r>
            <a:endParaRPr lang="en-US" sz="1000" dirty="0"/>
          </a:p>
        </p:txBody>
      </p:sp>
      <p:sp>
        <p:nvSpPr>
          <p:cNvPr id="18" name="funnel-3"/>
          <p:cNvSpPr/>
          <p:nvPr/>
        </p:nvSpPr>
        <p:spPr>
          <a:xfrm>
            <a:off x="9043416" y="4809744"/>
            <a:ext cx="2642616" cy="749808"/>
          </a:xfrm>
          <a:prstGeom prst="roundRect">
            <a:avLst>
              <a:gd name="adj" fmla="val 7317"/>
            </a:avLst>
          </a:prstGeom>
          <a:solidFill>
            <a:schemeClr val="bg2"/>
          </a:solidFill>
          <a:ln w="12700">
            <a:solidFill>
              <a:schemeClr val="bg2"/>
            </a:solidFill>
            <a:prstDash val="solid"/>
          </a:ln>
        </p:spPr>
      </p:sp>
      <p:sp>
        <p:nvSpPr>
          <p:cNvPr id="19" name="Text 15"/>
          <p:cNvSpPr txBox="1"/>
          <p:nvPr/>
        </p:nvSpPr>
        <p:spPr>
          <a:xfrm>
            <a:off x="9171432" y="4809744"/>
            <a:ext cx="1005840" cy="749808"/>
          </a:xfrm>
          <a:prstGeom prst="rect">
            <a:avLst/>
          </a:prstGeom>
          <a:noFill/>
          <a:ln/>
        </p:spPr>
        <p:txBody>
          <a:bodyPr wrap="square" lIns="0" tIns="0" rIns="0" bIns="0" rtlCol="0" anchor="ctr"/>
          <a:lstStyle/>
          <a:p>
            <a:pPr algn="ctr" indent="0" marL="0">
              <a:buNone/>
            </a:pPr>
            <a:r>
              <a:rPr lang="en-US" sz="1800" b="1" dirty="0">
                <a:solidFill>
                  <a:schemeClr val="accent4"/>
                </a:solidFill>
              </a:rPr>
              <a:t>192</a:t>
            </a:r>
            <a:endParaRPr lang="en-US" sz="1800" dirty="0"/>
          </a:p>
        </p:txBody>
      </p:sp>
      <p:sp>
        <p:nvSpPr>
          <p:cNvPr id="20" name="Text 16"/>
          <p:cNvSpPr txBox="1"/>
          <p:nvPr/>
        </p:nvSpPr>
        <p:spPr>
          <a:xfrm>
            <a:off x="10195560" y="4809744"/>
            <a:ext cx="1371600" cy="749808"/>
          </a:xfrm>
          <a:prstGeom prst="rect">
            <a:avLst/>
          </a:prstGeom>
          <a:noFill/>
          <a:ln/>
        </p:spPr>
        <p:txBody>
          <a:bodyPr wrap="square" lIns="0" tIns="0" rIns="0" bIns="0" rtlCol="0" anchor="ctr"/>
          <a:lstStyle/>
          <a:p>
            <a:pPr indent="0" marL="0">
              <a:buNone/>
            </a:pPr>
            <a:r>
              <a:rPr lang="en-US" sz="1000" dirty="0">
                <a:solidFill>
                  <a:srgbClr val="5A6B7D"/>
                </a:solidFill>
              </a:rPr>
              <a:t>countries retained</a:t>
            </a:r>
            <a:endParaRPr lang="en-US" sz="1000" dirty="0"/>
          </a:p>
        </p:txBody>
      </p:sp>
      <p:sp>
        <p:nvSpPr>
          <p:cNvPr id="21"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22"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97% of the usable panel survives cleaning — 1,890 rows across 192 countries, with every exclusion documented.</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Central tendency and dispersion</a:t>
            </a:r>
            <a:endParaRPr lang="en-US" sz="3000" dirty="0"/>
          </a:p>
        </p:txBody>
      </p:sp>
      <p:graphicFrame>
        <p:nvGraphicFramePr>
          <p:cNvPr id="6" name="desc-table"/>
          <p:cNvGraphicFramePr>
            <a:graphicFrameLocks noGrp="1"/>
          </p:cNvGraphicFramePr>
          <p:nvPr>
            <p:extLst>
              <p:ext uri="{D42A27DB-BD31-4B8C-83A1-F6EECF244321}">
                <p14:modId xmlns:p14="http://schemas.microsoft.com/office/powerpoint/2010/main" val="1579011935"/>
              </p:ext>
            </p:extLst>
          </p:nvPr>
        </p:nvGraphicFramePr>
        <p:xfrm>
          <a:off x="566928" y="1188720"/>
          <a:ext cx="5577840" cy="914400"/>
        </p:xfrm>
        <a:graphic>
          <a:graphicData uri="http://schemas.openxmlformats.org/drawingml/2006/table">
            <a:tbl>
              <a:tblPr/>
              <a:tblGrid>
                <a:gridCol w="2011680"/>
                <a:gridCol w="621792"/>
                <a:gridCol w="658368"/>
                <a:gridCol w="658368"/>
                <a:gridCol w="566928"/>
                <a:gridCol w="566928"/>
                <a:gridCol w="493776"/>
              </a:tblGrid>
              <a:tr h="274320">
                <a:tc>
                  <a:txBody>
                    <a:bodyPr/>
                    <a:lstStyle/>
                    <a:p>
                      <a:pPr indent="0" marL="0">
                        <a:buNone/>
                      </a:pPr>
                      <a:r>
                        <a:rPr lang="en-US" sz="1000" b="1" dirty="0">
                          <a:solidFill>
                            <a:schemeClr val="tx1"/>
                          </a:solidFill>
                        </a:rPr>
                        <a:t>Variable</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Mean</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Median</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Std dev</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IQR</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Skew</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b="1" dirty="0">
                          <a:solidFill>
                            <a:schemeClr val="tx1"/>
                          </a:solidFill>
                        </a:rPr>
                        <a:t>CV %</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Resilience score (target)</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62.6</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64.9</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14.9</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17.9</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-1.06</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24</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Real GDP growth %</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2.8</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3.2</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4.5</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3.9</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-1.06</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161</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CPI inflation %</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6.6</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3.2</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13.1</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4.9</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5.03</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198</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Govt gross debt % GDP</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58.8</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52.0</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37.2</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38.4</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1.91</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63</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Current account % GDP</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-2.0</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-2.1</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9.5</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8.7</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-0.14</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-476</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74320">
                <a:tc>
                  <a:txBody>
                    <a:bodyPr/>
                    <a:lstStyle/>
                    <a:p>
                      <a:pPr indent="0" marL="0">
                        <a:buNone/>
                      </a:pPr>
                      <a:r>
                        <a:rPr lang="en-US" sz="1000" dirty="0">
                          <a:solidFill>
                            <a:schemeClr val="tx1"/>
                          </a:solidFill>
                        </a:rPr>
                        <a:t>Unemployment %</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7.3</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6.2</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4.8</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1.7</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3.82</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00" dirty="0">
                          <a:solidFill>
                            <a:schemeClr val="tx1"/>
                          </a:solidFill>
                        </a:rPr>
                        <a:t>67</a:t>
                      </a:r>
                      <a:endParaRPr lang="en-US" sz="1000" dirty="0"/>
                    </a:p>
                  </a:txBody>
                  <a:tcPr marL="45720" marR="45720" marT="45720" marB="45720"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66928" y="3291840"/>
            <a:ext cx="5577840" cy="292608"/>
          </a:xfrm>
          <a:prstGeom prst="rect">
            <a:avLst/>
          </a:prstGeom>
          <a:noFill/>
          <a:ln/>
        </p:spPr>
        <p:txBody>
          <a:bodyPr wrap="square" lIns="0" tIns="0" rIns="0" bIns="0" rtlCol="0" anchor="ctr"/>
          <a:lstStyle/>
          <a:p>
            <a:pPr indent="0" marL="0">
              <a:buNone/>
            </a:pPr>
            <a:r>
              <a:rPr lang="en-US" sz="1400" b="1" dirty="0">
                <a:solidFill>
                  <a:schemeClr val="tx1"/>
                </a:solidFill>
              </a:rPr>
              <a:t>Reading the table</a:t>
            </a:r>
            <a:endParaRPr lang="en-US" sz="1400" dirty="0"/>
          </a:p>
        </p:txBody>
      </p:sp>
      <p:sp>
        <p:nvSpPr>
          <p:cNvPr id="5" name="Text 2"/>
          <p:cNvSpPr txBox="1"/>
          <p:nvPr/>
        </p:nvSpPr>
        <p:spPr>
          <a:xfrm>
            <a:off x="566928" y="3602736"/>
            <a:ext cx="5577840" cy="2011680"/>
          </a:xfrm>
          <a:prstGeom prst="rect">
            <a:avLst/>
          </a:prstGeom>
          <a:noFill/>
          <a:ln/>
        </p:spPr>
        <p:txBody>
          <a:bodyPr wrap="square" lIns="0" tIns="0" rIns="0" bIns="0" rtlCol="0" anchor="ctr"/>
          <a:lstStyle/>
          <a:p>
            <a:pPr indent="0" marL="0">
              <a:lnSpc>
                <a:spcPct val="110000"/>
              </a:lnSpc>
              <a:buNone/>
            </a:pPr>
            <a:r>
              <a:rPr lang="en-US" sz="1100" b="1" dirty="0">
                <a:solidFill>
                  <a:srgbClr val="3D4B5C"/>
                </a:solidFill>
              </a:rPr>
              <a:t>Target is mildly left-skewed. </a:t>
            </a:r>
            <a:pPr indent="0" marL="0">
              <a:lnSpc>
                <a:spcPct val="110000"/>
              </a:lnSpc>
              <a:buNone/>
            </a:pPr>
            <a:r>
              <a:rPr lang="en-US" sz="1100" dirty="0">
                <a:solidFill>
                  <a:srgbClr val="3D4B5C"/>
                </a:solidFill>
              </a:rPr>
              <a:t>Skew −1.06, mean 62.7 vs median 64.9 — a modest tail from crisis country-years. OLS assumes normal residuals, not a normal target, and the Q–Q plot confirms the residuals behave.</a:t>
            </a:r>
            <a:endParaRPr lang="en-US" sz="1100" dirty="0"/>
          </a:p>
          <a:p>
            <a:pPr indent="0" marL="0">
              <a:lnSpc>
                <a:spcPct val="110000"/>
              </a:lnSpc>
              <a:buNone/>
            </a:pPr>
            <a:r>
              <a:rPr lang="en-US" sz="1100" b="1" dirty="0">
                <a:solidFill>
                  <a:srgbClr val="3D4B5C"/>
                </a:solidFill>
              </a:rPr>
              <a:t>Inflation is the extreme case. </a:t>
            </a:r>
            <a:pPr indent="0" marL="0">
              <a:lnSpc>
                <a:spcPct val="110000"/>
              </a:lnSpc>
              <a:buNone/>
            </a:pPr>
            <a:r>
              <a:rPr lang="en-US" sz="1100" dirty="0">
                <a:solidFill>
                  <a:srgbClr val="3D4B5C"/>
                </a:solidFill>
              </a:rPr>
              <a:t>Skew 5.03 and kurtosis 29.4 even after winsorising — which is exactly why winsorising was applied.</a:t>
            </a:r>
            <a:endParaRPr lang="en-US" sz="1100" dirty="0"/>
          </a:p>
          <a:p>
            <a:pPr indent="0" marL="0">
              <a:lnSpc>
                <a:spcPct val="110000"/>
              </a:lnSpc>
              <a:buNone/>
            </a:pPr>
            <a:r>
              <a:rPr lang="en-US" sz="1100" b="1" dirty="0">
                <a:solidFill>
                  <a:srgbClr val="3D4B5C"/>
                </a:solidFill>
              </a:rPr>
              <a:t>CV flags where the mean misleads. </a:t>
            </a:r>
            <a:pPr indent="0" marL="0">
              <a:lnSpc>
                <a:spcPct val="110000"/>
              </a:lnSpc>
              <a:buNone/>
            </a:pPr>
            <a:r>
              <a:rPr lang="en-US" sz="1100" dirty="0">
                <a:solidFill>
                  <a:srgbClr val="3D4B5C"/>
                </a:solidFill>
              </a:rPr>
              <a:t>For the current account (−476%) and the fiscal balance the CV exceeds 100% in absolute value because both straddle zero.</a:t>
            </a:r>
            <a:endParaRPr lang="en-US" sz="1100" dirty="0"/>
          </a:p>
        </p:txBody>
      </p:sp>
      <p:pic>
        <p:nvPicPr>
          <p:cNvPr id="6" name="Image 0" descr="figures/fig02_distributions.png">    </p:cNvPr>
          <p:cNvPicPr>
            <a:picLocks noChangeAspect="1"/>
          </p:cNvPicPr>
          <p:nvPr/>
        </p:nvPicPr>
        <p:blipFill>
          <a:blip r:embed="rId1"/>
          <a:stretch>
            <a:fillRect/>
          </a:stretch>
        </p:blipFill>
        <p:spPr>
          <a:xfrm>
            <a:off x="6400800" y="1677515"/>
            <a:ext cx="5230368" cy="3393243"/>
          </a:xfrm>
          <a:prstGeom prst="rect">
            <a:avLst/>
          </a:prstGeom>
        </p:spPr>
      </p:pic>
      <p:sp>
        <p:nvSpPr>
          <p:cNvPr id="7"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8"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A bounded target with a modest left tail; inflation's skew of 5.0 is what forced winsorising before any model was fitted.</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Correlation analysis</a:t>
            </a:r>
            <a:endParaRPr lang="en-US" sz="3000" dirty="0"/>
          </a:p>
        </p:txBody>
      </p:sp>
      <p:pic>
        <p:nvPicPr>
          <p:cNvPr id="3" name="Image 0" descr="figures/fig03_correlation.png">    </p:cNvPr>
          <p:cNvPicPr>
            <a:picLocks noChangeAspect="1"/>
          </p:cNvPicPr>
          <p:nvPr/>
        </p:nvPicPr>
        <p:blipFill>
          <a:blip r:embed="rId1"/>
          <a:stretch>
            <a:fillRect/>
          </a:stretch>
        </p:blipFill>
        <p:spPr>
          <a:xfrm>
            <a:off x="837813" y="1115568"/>
            <a:ext cx="4944630" cy="4480560"/>
          </a:xfrm>
          <a:prstGeom prst="rect">
            <a:avLst/>
          </a:prstGeom>
        </p:spPr>
      </p:pic>
      <p:sp>
        <p:nvSpPr>
          <p:cNvPr id="4" name="Text 1"/>
          <p:cNvSpPr txBox="1"/>
          <p:nvPr/>
        </p:nvSpPr>
        <p:spPr>
          <a:xfrm>
            <a:off x="6400800" y="1152144"/>
            <a:ext cx="5230368" cy="310896"/>
          </a:xfrm>
          <a:prstGeom prst="rect">
            <a:avLst/>
          </a:prstGeom>
          <a:noFill/>
          <a:ln/>
        </p:spPr>
        <p:txBody>
          <a:bodyPr wrap="square" lIns="0" tIns="0" rIns="0" bIns="0" rtlCol="0" anchor="ctr"/>
          <a:lstStyle/>
          <a:p>
            <a:pPr indent="0" marL="0">
              <a:buNone/>
            </a:pPr>
            <a:r>
              <a:rPr lang="en-US" sz="1400" b="1" dirty="0">
                <a:solidFill>
                  <a:schemeClr val="tx1"/>
                </a:solidFill>
              </a:rPr>
              <a:t>Correlation with the resilience score</a:t>
            </a:r>
            <a:endParaRPr lang="en-US" sz="1400" dirty="0"/>
          </a:p>
        </p:txBody>
      </p:sp>
      <p:sp>
        <p:nvSpPr>
          <p:cNvPr id="5" name="Text 2"/>
          <p:cNvSpPr txBox="1"/>
          <p:nvPr/>
        </p:nvSpPr>
        <p:spPr>
          <a:xfrm>
            <a:off x="6400800" y="1536192"/>
            <a:ext cx="2395728" cy="310896"/>
          </a:xfrm>
          <a:prstGeom prst="rect">
            <a:avLst/>
          </a:prstGeom>
          <a:noFill/>
          <a:ln/>
        </p:spPr>
        <p:txBody>
          <a:bodyPr wrap="square" lIns="0" tIns="0" rIns="0" bIns="0" rtlCol="0" anchor="ctr"/>
          <a:lstStyle/>
          <a:p>
            <a:pPr indent="0" marL="0">
              <a:buNone/>
            </a:pPr>
            <a:r>
              <a:rPr lang="en-US" sz="1050" dirty="0">
                <a:solidFill>
                  <a:srgbClr val="3D4B5C"/>
                </a:solidFill>
              </a:rPr>
              <a:t>Real GDP Growth Pct</a:t>
            </a:r>
            <a:endParaRPr lang="en-US" sz="1050" dirty="0"/>
          </a:p>
        </p:txBody>
      </p:sp>
      <p:sp>
        <p:nvSpPr>
          <p:cNvPr id="6" name="corr-bar-0"/>
          <p:cNvSpPr/>
          <p:nvPr/>
        </p:nvSpPr>
        <p:spPr>
          <a:xfrm>
            <a:off x="9144000" y="1600200"/>
            <a:ext cx="1230051" cy="182880"/>
          </a:xfrm>
          <a:prstGeom prst="rect">
            <a:avLst/>
          </a:prstGeom>
          <a:solidFill>
            <a:schemeClr val="accent3"/>
          </a:solidFill>
          <a:ln w="12700">
            <a:solidFill>
              <a:schemeClr val="accent3"/>
            </a:solidFill>
            <a:prstDash val="solid"/>
          </a:ln>
        </p:spPr>
      </p:sp>
      <p:sp>
        <p:nvSpPr>
          <p:cNvPr id="7" name="corr-zero-0"/>
          <p:cNvSpPr/>
          <p:nvPr/>
        </p:nvSpPr>
        <p:spPr>
          <a:xfrm>
            <a:off x="9144000" y="1554480"/>
            <a:ext cx="0" cy="274320"/>
          </a:xfrm>
          <a:prstGeom prst="line">
            <a:avLst/>
          </a:prstGeom>
          <a:noFill/>
          <a:ln w="9525">
            <a:solidFill>
              <a:srgbClr val="B9C4D1"/>
            </a:solidFill>
            <a:prstDash val="solid"/>
          </a:ln>
        </p:spPr>
      </p:sp>
      <p:sp>
        <p:nvSpPr>
          <p:cNvPr id="8" name="Text 5"/>
          <p:cNvSpPr txBox="1"/>
          <p:nvPr/>
        </p:nvSpPr>
        <p:spPr>
          <a:xfrm>
            <a:off x="11018520" y="1536192"/>
            <a:ext cx="621792" cy="310896"/>
          </a:xfrm>
          <a:prstGeom prst="rect">
            <a:avLst/>
          </a:prstGeom>
          <a:noFill/>
          <a:ln/>
        </p:spPr>
        <p:txBody>
          <a:bodyPr wrap="square" lIns="0" tIns="0" rIns="0" bIns="0" rtlCol="0" anchor="ctr"/>
          <a:lstStyle/>
          <a:p>
            <a:pPr algn="r" indent="0" marL="0">
              <a:buNone/>
            </a:pPr>
            <a:r>
              <a:rPr lang="en-US" sz="1050" b="1" dirty="0">
                <a:solidFill>
                  <a:schemeClr val="accent3"/>
                </a:solidFill>
              </a:rPr>
              <a:t>+0.71</a:t>
            </a:r>
            <a:endParaRPr lang="en-US" sz="1050" dirty="0"/>
          </a:p>
        </p:txBody>
      </p:sp>
      <p:sp>
        <p:nvSpPr>
          <p:cNvPr id="9" name="Text 6"/>
          <p:cNvSpPr txBox="1"/>
          <p:nvPr/>
        </p:nvSpPr>
        <p:spPr>
          <a:xfrm>
            <a:off x="6400800" y="1888236"/>
            <a:ext cx="2395728" cy="310896"/>
          </a:xfrm>
          <a:prstGeom prst="rect">
            <a:avLst/>
          </a:prstGeom>
          <a:noFill/>
          <a:ln/>
        </p:spPr>
        <p:txBody>
          <a:bodyPr wrap="square" lIns="0" tIns="0" rIns="0" bIns="0" rtlCol="0" anchor="ctr"/>
          <a:lstStyle/>
          <a:p>
            <a:pPr indent="0" marL="0">
              <a:buNone/>
            </a:pPr>
            <a:r>
              <a:rPr lang="en-US" sz="1050" dirty="0">
                <a:solidFill>
                  <a:srgbClr val="3D4B5C"/>
                </a:solidFill>
              </a:rPr>
              <a:t>Govt Gross Debt Pct GDP</a:t>
            </a:r>
            <a:endParaRPr lang="en-US" sz="1050" dirty="0"/>
          </a:p>
        </p:txBody>
      </p:sp>
      <p:sp>
        <p:nvSpPr>
          <p:cNvPr id="10" name="corr-bar-1"/>
          <p:cNvSpPr/>
          <p:nvPr/>
        </p:nvSpPr>
        <p:spPr>
          <a:xfrm>
            <a:off x="8089422" y="1952244"/>
            <a:ext cx="1054578" cy="182880"/>
          </a:xfrm>
          <a:prstGeom prst="rect">
            <a:avLst/>
          </a:prstGeom>
          <a:solidFill>
            <a:schemeClr val="accent2"/>
          </a:solidFill>
          <a:ln w="12700">
            <a:solidFill>
              <a:schemeClr val="accent2"/>
            </a:solidFill>
            <a:prstDash val="solid"/>
          </a:ln>
        </p:spPr>
      </p:sp>
      <p:sp>
        <p:nvSpPr>
          <p:cNvPr id="11" name="corr-zero-1"/>
          <p:cNvSpPr/>
          <p:nvPr/>
        </p:nvSpPr>
        <p:spPr>
          <a:xfrm>
            <a:off x="9144000" y="1906524"/>
            <a:ext cx="0" cy="274320"/>
          </a:xfrm>
          <a:prstGeom prst="line">
            <a:avLst/>
          </a:prstGeom>
          <a:noFill/>
          <a:ln w="9525">
            <a:solidFill>
              <a:srgbClr val="B9C4D1"/>
            </a:solidFill>
            <a:prstDash val="solid"/>
          </a:ln>
        </p:spPr>
      </p:sp>
      <p:sp>
        <p:nvSpPr>
          <p:cNvPr id="12" name="Text 9"/>
          <p:cNvSpPr txBox="1"/>
          <p:nvPr/>
        </p:nvSpPr>
        <p:spPr>
          <a:xfrm>
            <a:off x="11018520" y="1888236"/>
            <a:ext cx="621792" cy="310896"/>
          </a:xfrm>
          <a:prstGeom prst="rect">
            <a:avLst/>
          </a:prstGeom>
          <a:noFill/>
          <a:ln/>
        </p:spPr>
        <p:txBody>
          <a:bodyPr wrap="square" lIns="0" tIns="0" rIns="0" bIns="0" rtlCol="0" anchor="ctr"/>
          <a:lstStyle/>
          <a:p>
            <a:pPr algn="r" indent="0" marL="0">
              <a:buNone/>
            </a:pPr>
            <a:r>
              <a:rPr lang="en-US" sz="1050" b="1" dirty="0">
                <a:solidFill>
                  <a:schemeClr val="accent2"/>
                </a:solidFill>
              </a:rPr>
              <a:t>-0.61</a:t>
            </a:r>
            <a:endParaRPr lang="en-US" sz="1050" dirty="0"/>
          </a:p>
        </p:txBody>
      </p:sp>
      <p:sp>
        <p:nvSpPr>
          <p:cNvPr id="13" name="Text 10"/>
          <p:cNvSpPr txBox="1"/>
          <p:nvPr/>
        </p:nvSpPr>
        <p:spPr>
          <a:xfrm>
            <a:off x="6400800" y="2240280"/>
            <a:ext cx="2395728" cy="310896"/>
          </a:xfrm>
          <a:prstGeom prst="rect">
            <a:avLst/>
          </a:prstGeom>
          <a:noFill/>
          <a:ln/>
        </p:spPr>
        <p:txBody>
          <a:bodyPr wrap="square" lIns="0" tIns="0" rIns="0" bIns="0" rtlCol="0" anchor="ctr"/>
          <a:lstStyle/>
          <a:p>
            <a:pPr indent="0" marL="0">
              <a:buNone/>
            </a:pPr>
            <a:r>
              <a:rPr lang="en-US" sz="1050" dirty="0">
                <a:solidFill>
                  <a:srgbClr val="3D4B5C"/>
                </a:solidFill>
              </a:rPr>
              <a:t>Inflation CPI Pct</a:t>
            </a:r>
            <a:endParaRPr lang="en-US" sz="1050" dirty="0"/>
          </a:p>
        </p:txBody>
      </p:sp>
      <p:sp>
        <p:nvSpPr>
          <p:cNvPr id="14" name="corr-bar-2"/>
          <p:cNvSpPr/>
          <p:nvPr/>
        </p:nvSpPr>
        <p:spPr>
          <a:xfrm>
            <a:off x="8230149" y="2304288"/>
            <a:ext cx="913851" cy="182880"/>
          </a:xfrm>
          <a:prstGeom prst="rect">
            <a:avLst/>
          </a:prstGeom>
          <a:solidFill>
            <a:schemeClr val="accent2"/>
          </a:solidFill>
          <a:ln w="12700">
            <a:solidFill>
              <a:schemeClr val="accent2"/>
            </a:solidFill>
            <a:prstDash val="solid"/>
          </a:ln>
        </p:spPr>
      </p:sp>
      <p:sp>
        <p:nvSpPr>
          <p:cNvPr id="15" name="corr-zero-2"/>
          <p:cNvSpPr/>
          <p:nvPr/>
        </p:nvSpPr>
        <p:spPr>
          <a:xfrm>
            <a:off x="9144000" y="2258568"/>
            <a:ext cx="0" cy="274320"/>
          </a:xfrm>
          <a:prstGeom prst="line">
            <a:avLst/>
          </a:prstGeom>
          <a:noFill/>
          <a:ln w="9525">
            <a:solidFill>
              <a:srgbClr val="B9C4D1"/>
            </a:solidFill>
            <a:prstDash val="solid"/>
          </a:ln>
        </p:spPr>
      </p:sp>
      <p:sp>
        <p:nvSpPr>
          <p:cNvPr id="16" name="Text 13"/>
          <p:cNvSpPr txBox="1"/>
          <p:nvPr/>
        </p:nvSpPr>
        <p:spPr>
          <a:xfrm>
            <a:off x="11018520" y="2240280"/>
            <a:ext cx="621792" cy="310896"/>
          </a:xfrm>
          <a:prstGeom prst="rect">
            <a:avLst/>
          </a:prstGeom>
          <a:noFill/>
          <a:ln/>
        </p:spPr>
        <p:txBody>
          <a:bodyPr wrap="square" lIns="0" tIns="0" rIns="0" bIns="0" rtlCol="0" anchor="ctr"/>
          <a:lstStyle/>
          <a:p>
            <a:pPr algn="r" indent="0" marL="0">
              <a:buNone/>
            </a:pPr>
            <a:r>
              <a:rPr lang="en-US" sz="1050" b="1" dirty="0">
                <a:solidFill>
                  <a:schemeClr val="accent2"/>
                </a:solidFill>
              </a:rPr>
              <a:t>-0.53</a:t>
            </a:r>
            <a:endParaRPr lang="en-US" sz="1050" dirty="0"/>
          </a:p>
        </p:txBody>
      </p:sp>
      <p:sp>
        <p:nvSpPr>
          <p:cNvPr id="17" name="Text 14"/>
          <p:cNvSpPr txBox="1"/>
          <p:nvPr/>
        </p:nvSpPr>
        <p:spPr>
          <a:xfrm>
            <a:off x="6400800" y="2592324"/>
            <a:ext cx="2395728" cy="310896"/>
          </a:xfrm>
          <a:prstGeom prst="rect">
            <a:avLst/>
          </a:prstGeom>
          <a:noFill/>
          <a:ln/>
        </p:spPr>
        <p:txBody>
          <a:bodyPr wrap="square" lIns="0" tIns="0" rIns="0" bIns="0" rtlCol="0" anchor="ctr"/>
          <a:lstStyle/>
          <a:p>
            <a:pPr indent="0" marL="0">
              <a:buNone/>
            </a:pPr>
            <a:r>
              <a:rPr lang="en-US" sz="1050" dirty="0">
                <a:solidFill>
                  <a:srgbClr val="3D4B5C"/>
                </a:solidFill>
              </a:rPr>
              <a:t>GDP Growth Momentum 3Y</a:t>
            </a:r>
            <a:endParaRPr lang="en-US" sz="1050" dirty="0"/>
          </a:p>
        </p:txBody>
      </p:sp>
      <p:sp>
        <p:nvSpPr>
          <p:cNvPr id="18" name="corr-bar-3"/>
          <p:cNvSpPr/>
          <p:nvPr/>
        </p:nvSpPr>
        <p:spPr>
          <a:xfrm>
            <a:off x="9144000" y="2656332"/>
            <a:ext cx="927750" cy="182880"/>
          </a:xfrm>
          <a:prstGeom prst="rect">
            <a:avLst/>
          </a:prstGeom>
          <a:solidFill>
            <a:schemeClr val="accent3"/>
          </a:solidFill>
          <a:ln w="12700">
            <a:solidFill>
              <a:schemeClr val="accent3"/>
            </a:solidFill>
            <a:prstDash val="solid"/>
          </a:ln>
        </p:spPr>
      </p:sp>
      <p:sp>
        <p:nvSpPr>
          <p:cNvPr id="19" name="corr-zero-3"/>
          <p:cNvSpPr/>
          <p:nvPr/>
        </p:nvSpPr>
        <p:spPr>
          <a:xfrm>
            <a:off x="9144000" y="2610612"/>
            <a:ext cx="0" cy="274320"/>
          </a:xfrm>
          <a:prstGeom prst="line">
            <a:avLst/>
          </a:prstGeom>
          <a:noFill/>
          <a:ln w="9525">
            <a:solidFill>
              <a:srgbClr val="B9C4D1"/>
            </a:solidFill>
            <a:prstDash val="solid"/>
          </a:ln>
        </p:spPr>
      </p:sp>
      <p:sp>
        <p:nvSpPr>
          <p:cNvPr id="20" name="Text 17"/>
          <p:cNvSpPr txBox="1"/>
          <p:nvPr/>
        </p:nvSpPr>
        <p:spPr>
          <a:xfrm>
            <a:off x="11018520" y="2592324"/>
            <a:ext cx="621792" cy="310896"/>
          </a:xfrm>
          <a:prstGeom prst="rect">
            <a:avLst/>
          </a:prstGeom>
          <a:noFill/>
          <a:ln/>
        </p:spPr>
        <p:txBody>
          <a:bodyPr wrap="square" lIns="0" tIns="0" rIns="0" bIns="0" rtlCol="0" anchor="ctr"/>
          <a:lstStyle/>
          <a:p>
            <a:pPr algn="r" indent="0" marL="0">
              <a:buNone/>
            </a:pPr>
            <a:r>
              <a:rPr lang="en-US" sz="1050" b="1" dirty="0">
                <a:solidFill>
                  <a:schemeClr val="accent3"/>
                </a:solidFill>
              </a:rPr>
              <a:t>+0.53</a:t>
            </a:r>
            <a:endParaRPr lang="en-US" sz="1050" dirty="0"/>
          </a:p>
        </p:txBody>
      </p:sp>
      <p:sp>
        <p:nvSpPr>
          <p:cNvPr id="21" name="Text 18"/>
          <p:cNvSpPr txBox="1"/>
          <p:nvPr/>
        </p:nvSpPr>
        <p:spPr>
          <a:xfrm>
            <a:off x="6400800" y="2944368"/>
            <a:ext cx="2395728" cy="310896"/>
          </a:xfrm>
          <a:prstGeom prst="rect">
            <a:avLst/>
          </a:prstGeom>
          <a:noFill/>
          <a:ln/>
        </p:spPr>
        <p:txBody>
          <a:bodyPr wrap="square" lIns="0" tIns="0" rIns="0" bIns="0" rtlCol="0" anchor="ctr"/>
          <a:lstStyle/>
          <a:p>
            <a:pPr indent="0" marL="0">
              <a:buNone/>
            </a:pPr>
            <a:r>
              <a:rPr lang="en-US" sz="1050" dirty="0">
                <a:solidFill>
                  <a:srgbClr val="3D4B5C"/>
                </a:solidFill>
              </a:rPr>
              <a:t>Govt Net Lending Pct GDP</a:t>
            </a:r>
            <a:endParaRPr lang="en-US" sz="1050" dirty="0"/>
          </a:p>
        </p:txBody>
      </p:sp>
      <p:sp>
        <p:nvSpPr>
          <p:cNvPr id="22" name="corr-bar-4"/>
          <p:cNvSpPr/>
          <p:nvPr/>
        </p:nvSpPr>
        <p:spPr>
          <a:xfrm>
            <a:off x="9144000" y="3008376"/>
            <a:ext cx="453451" cy="182880"/>
          </a:xfrm>
          <a:prstGeom prst="rect">
            <a:avLst/>
          </a:prstGeom>
          <a:solidFill>
            <a:schemeClr val="accent3"/>
          </a:solidFill>
          <a:ln w="12700">
            <a:solidFill>
              <a:schemeClr val="accent3"/>
            </a:solidFill>
            <a:prstDash val="solid"/>
          </a:ln>
        </p:spPr>
      </p:sp>
      <p:sp>
        <p:nvSpPr>
          <p:cNvPr id="23" name="corr-zero-4"/>
          <p:cNvSpPr/>
          <p:nvPr/>
        </p:nvSpPr>
        <p:spPr>
          <a:xfrm>
            <a:off x="9144000" y="2962656"/>
            <a:ext cx="0" cy="274320"/>
          </a:xfrm>
          <a:prstGeom prst="line">
            <a:avLst/>
          </a:prstGeom>
          <a:noFill/>
          <a:ln w="9525">
            <a:solidFill>
              <a:srgbClr val="B9C4D1"/>
            </a:solidFill>
            <a:prstDash val="solid"/>
          </a:ln>
        </p:spPr>
      </p:sp>
      <p:sp>
        <p:nvSpPr>
          <p:cNvPr id="24" name="Text 21"/>
          <p:cNvSpPr txBox="1"/>
          <p:nvPr/>
        </p:nvSpPr>
        <p:spPr>
          <a:xfrm>
            <a:off x="11018520" y="2944368"/>
            <a:ext cx="621792" cy="310896"/>
          </a:xfrm>
          <a:prstGeom prst="rect">
            <a:avLst/>
          </a:prstGeom>
          <a:noFill/>
          <a:ln/>
        </p:spPr>
        <p:txBody>
          <a:bodyPr wrap="square" lIns="0" tIns="0" rIns="0" bIns="0" rtlCol="0" anchor="ctr"/>
          <a:lstStyle/>
          <a:p>
            <a:pPr algn="r" indent="0" marL="0">
              <a:buNone/>
            </a:pPr>
            <a:r>
              <a:rPr lang="en-US" sz="1050" b="1" dirty="0">
                <a:solidFill>
                  <a:schemeClr val="accent3"/>
                </a:solidFill>
              </a:rPr>
              <a:t>+0.26</a:t>
            </a:r>
            <a:endParaRPr lang="en-US" sz="1050" dirty="0"/>
          </a:p>
        </p:txBody>
      </p:sp>
      <p:sp>
        <p:nvSpPr>
          <p:cNvPr id="25" name="Text 22"/>
          <p:cNvSpPr txBox="1"/>
          <p:nvPr/>
        </p:nvSpPr>
        <p:spPr>
          <a:xfrm>
            <a:off x="6400800" y="3296412"/>
            <a:ext cx="2395728" cy="310896"/>
          </a:xfrm>
          <a:prstGeom prst="rect">
            <a:avLst/>
          </a:prstGeom>
          <a:noFill/>
          <a:ln/>
        </p:spPr>
        <p:txBody>
          <a:bodyPr wrap="square" lIns="0" tIns="0" rIns="0" bIns="0" rtlCol="0" anchor="ctr"/>
          <a:lstStyle/>
          <a:p>
            <a:pPr indent="0" marL="0">
              <a:buNone/>
            </a:pPr>
            <a:r>
              <a:rPr lang="en-US" sz="1050" dirty="0">
                <a:solidFill>
                  <a:srgbClr val="3D4B5C"/>
                </a:solidFill>
              </a:rPr>
              <a:t>Unemployment Rate Pct</a:t>
            </a:r>
            <a:endParaRPr lang="en-US" sz="1050" dirty="0"/>
          </a:p>
        </p:txBody>
      </p:sp>
      <p:sp>
        <p:nvSpPr>
          <p:cNvPr id="26" name="corr-bar-5"/>
          <p:cNvSpPr/>
          <p:nvPr/>
        </p:nvSpPr>
        <p:spPr>
          <a:xfrm>
            <a:off x="8700973" y="3360420"/>
            <a:ext cx="443027" cy="182880"/>
          </a:xfrm>
          <a:prstGeom prst="rect">
            <a:avLst/>
          </a:prstGeom>
          <a:solidFill>
            <a:schemeClr val="accent2"/>
          </a:solidFill>
          <a:ln w="12700">
            <a:solidFill>
              <a:schemeClr val="accent2"/>
            </a:solidFill>
            <a:prstDash val="solid"/>
          </a:ln>
        </p:spPr>
      </p:sp>
      <p:sp>
        <p:nvSpPr>
          <p:cNvPr id="27" name="corr-zero-5"/>
          <p:cNvSpPr/>
          <p:nvPr/>
        </p:nvSpPr>
        <p:spPr>
          <a:xfrm>
            <a:off x="9144000" y="3314700"/>
            <a:ext cx="0" cy="274320"/>
          </a:xfrm>
          <a:prstGeom prst="line">
            <a:avLst/>
          </a:prstGeom>
          <a:noFill/>
          <a:ln w="9525">
            <a:solidFill>
              <a:srgbClr val="B9C4D1"/>
            </a:solidFill>
            <a:prstDash val="solid"/>
          </a:ln>
        </p:spPr>
      </p:sp>
      <p:sp>
        <p:nvSpPr>
          <p:cNvPr id="28" name="Text 25"/>
          <p:cNvSpPr txBox="1"/>
          <p:nvPr/>
        </p:nvSpPr>
        <p:spPr>
          <a:xfrm>
            <a:off x="11018520" y="3296412"/>
            <a:ext cx="621792" cy="310896"/>
          </a:xfrm>
          <a:prstGeom prst="rect">
            <a:avLst/>
          </a:prstGeom>
          <a:noFill/>
          <a:ln/>
        </p:spPr>
        <p:txBody>
          <a:bodyPr wrap="square" lIns="0" tIns="0" rIns="0" bIns="0" rtlCol="0" anchor="ctr"/>
          <a:lstStyle/>
          <a:p>
            <a:pPr algn="r" indent="0" marL="0">
              <a:buNone/>
            </a:pPr>
            <a:r>
              <a:rPr lang="en-US" sz="1050" b="1" dirty="0">
                <a:solidFill>
                  <a:schemeClr val="accent2"/>
                </a:solidFill>
              </a:rPr>
              <a:t>-0.26</a:t>
            </a:r>
            <a:endParaRPr lang="en-US" sz="1050" dirty="0"/>
          </a:p>
        </p:txBody>
      </p:sp>
      <p:sp>
        <p:nvSpPr>
          <p:cNvPr id="29" name="Text 26"/>
          <p:cNvSpPr txBox="1"/>
          <p:nvPr/>
        </p:nvSpPr>
        <p:spPr>
          <a:xfrm>
            <a:off x="6400800" y="3648456"/>
            <a:ext cx="2395728" cy="310896"/>
          </a:xfrm>
          <a:prstGeom prst="rect">
            <a:avLst/>
          </a:prstGeom>
          <a:noFill/>
          <a:ln/>
        </p:spPr>
        <p:txBody>
          <a:bodyPr wrap="square" lIns="0" tIns="0" rIns="0" bIns="0" rtlCol="0" anchor="ctr"/>
          <a:lstStyle/>
          <a:p>
            <a:pPr indent="0" marL="0">
              <a:buNone/>
            </a:pPr>
            <a:r>
              <a:rPr lang="en-US" sz="1050" dirty="0">
                <a:solidFill>
                  <a:srgbClr val="3D4B5C"/>
                </a:solidFill>
              </a:rPr>
              <a:t>Current Account Pct GDP</a:t>
            </a:r>
            <a:endParaRPr lang="en-US" sz="1050" dirty="0"/>
          </a:p>
        </p:txBody>
      </p:sp>
      <p:sp>
        <p:nvSpPr>
          <p:cNvPr id="30" name="corr-bar-6"/>
          <p:cNvSpPr/>
          <p:nvPr/>
        </p:nvSpPr>
        <p:spPr>
          <a:xfrm>
            <a:off x="9144000" y="3712464"/>
            <a:ext cx="277978" cy="182880"/>
          </a:xfrm>
          <a:prstGeom prst="rect">
            <a:avLst/>
          </a:prstGeom>
          <a:solidFill>
            <a:schemeClr val="accent3"/>
          </a:solidFill>
          <a:ln w="12700">
            <a:solidFill>
              <a:schemeClr val="accent3"/>
            </a:solidFill>
            <a:prstDash val="solid"/>
          </a:ln>
        </p:spPr>
      </p:sp>
      <p:sp>
        <p:nvSpPr>
          <p:cNvPr id="31" name="corr-zero-6"/>
          <p:cNvSpPr/>
          <p:nvPr/>
        </p:nvSpPr>
        <p:spPr>
          <a:xfrm>
            <a:off x="9144000" y="3666744"/>
            <a:ext cx="0" cy="274320"/>
          </a:xfrm>
          <a:prstGeom prst="line">
            <a:avLst/>
          </a:prstGeom>
          <a:noFill/>
          <a:ln w="9525">
            <a:solidFill>
              <a:srgbClr val="B9C4D1"/>
            </a:solidFill>
            <a:prstDash val="solid"/>
          </a:ln>
        </p:spPr>
      </p:sp>
      <p:sp>
        <p:nvSpPr>
          <p:cNvPr id="32" name="Text 29"/>
          <p:cNvSpPr txBox="1"/>
          <p:nvPr/>
        </p:nvSpPr>
        <p:spPr>
          <a:xfrm>
            <a:off x="11018520" y="3648456"/>
            <a:ext cx="621792" cy="310896"/>
          </a:xfrm>
          <a:prstGeom prst="rect">
            <a:avLst/>
          </a:prstGeom>
          <a:noFill/>
          <a:ln/>
        </p:spPr>
        <p:txBody>
          <a:bodyPr wrap="square" lIns="0" tIns="0" rIns="0" bIns="0" rtlCol="0" anchor="ctr"/>
          <a:lstStyle/>
          <a:p>
            <a:pPr algn="r" indent="0" marL="0">
              <a:buNone/>
            </a:pPr>
            <a:r>
              <a:rPr lang="en-US" sz="1050" b="1" dirty="0">
                <a:solidFill>
                  <a:schemeClr val="accent3"/>
                </a:solidFill>
              </a:rPr>
              <a:t>+0.16</a:t>
            </a:r>
            <a:endParaRPr lang="en-US" sz="1050" dirty="0"/>
          </a:p>
        </p:txBody>
      </p:sp>
      <p:sp>
        <p:nvSpPr>
          <p:cNvPr id="33" name="Text 30"/>
          <p:cNvSpPr txBox="1"/>
          <p:nvPr/>
        </p:nvSpPr>
        <p:spPr>
          <a:xfrm>
            <a:off x="6400800" y="4000500"/>
            <a:ext cx="2395728" cy="310896"/>
          </a:xfrm>
          <a:prstGeom prst="rect">
            <a:avLst/>
          </a:prstGeom>
          <a:noFill/>
          <a:ln/>
        </p:spPr>
        <p:txBody>
          <a:bodyPr wrap="square" lIns="0" tIns="0" rIns="0" bIns="0" rtlCol="0" anchor="ctr"/>
          <a:lstStyle/>
          <a:p>
            <a:pPr indent="0" marL="0">
              <a:buNone/>
            </a:pPr>
            <a:r>
              <a:rPr lang="en-US" sz="1050" dirty="0">
                <a:solidFill>
                  <a:srgbClr val="3D4B5C"/>
                </a:solidFill>
              </a:rPr>
              <a:t>log Population</a:t>
            </a:r>
            <a:endParaRPr lang="en-US" sz="1050" dirty="0"/>
          </a:p>
        </p:txBody>
      </p:sp>
      <p:sp>
        <p:nvSpPr>
          <p:cNvPr id="34" name="corr-bar-7"/>
          <p:cNvSpPr/>
          <p:nvPr/>
        </p:nvSpPr>
        <p:spPr>
          <a:xfrm>
            <a:off x="8984163" y="4064508"/>
            <a:ext cx="159837" cy="182880"/>
          </a:xfrm>
          <a:prstGeom prst="rect">
            <a:avLst/>
          </a:prstGeom>
          <a:solidFill>
            <a:schemeClr val="accent2"/>
          </a:solidFill>
          <a:ln w="12700">
            <a:solidFill>
              <a:schemeClr val="accent2"/>
            </a:solidFill>
            <a:prstDash val="solid"/>
          </a:ln>
        </p:spPr>
      </p:sp>
      <p:sp>
        <p:nvSpPr>
          <p:cNvPr id="35" name="corr-zero-7"/>
          <p:cNvSpPr/>
          <p:nvPr/>
        </p:nvSpPr>
        <p:spPr>
          <a:xfrm>
            <a:off x="9144000" y="4018788"/>
            <a:ext cx="0" cy="274320"/>
          </a:xfrm>
          <a:prstGeom prst="line">
            <a:avLst/>
          </a:prstGeom>
          <a:noFill/>
          <a:ln w="9525">
            <a:solidFill>
              <a:srgbClr val="B9C4D1"/>
            </a:solidFill>
            <a:prstDash val="solid"/>
          </a:ln>
        </p:spPr>
      </p:sp>
      <p:sp>
        <p:nvSpPr>
          <p:cNvPr id="36" name="Text 33"/>
          <p:cNvSpPr txBox="1"/>
          <p:nvPr/>
        </p:nvSpPr>
        <p:spPr>
          <a:xfrm>
            <a:off x="11018520" y="4000500"/>
            <a:ext cx="621792" cy="310896"/>
          </a:xfrm>
          <a:prstGeom prst="rect">
            <a:avLst/>
          </a:prstGeom>
          <a:noFill/>
          <a:ln/>
        </p:spPr>
        <p:txBody>
          <a:bodyPr wrap="square" lIns="0" tIns="0" rIns="0" bIns="0" rtlCol="0" anchor="ctr"/>
          <a:lstStyle/>
          <a:p>
            <a:pPr algn="r" indent="0" marL="0">
              <a:buNone/>
            </a:pPr>
            <a:r>
              <a:rPr lang="en-US" sz="1050" b="1" dirty="0">
                <a:solidFill>
                  <a:schemeClr val="accent2"/>
                </a:solidFill>
              </a:rPr>
              <a:t>-0.09</a:t>
            </a:r>
            <a:endParaRPr lang="en-US" sz="1050" dirty="0"/>
          </a:p>
        </p:txBody>
      </p:sp>
      <p:sp>
        <p:nvSpPr>
          <p:cNvPr id="37" name="Text 34"/>
          <p:cNvSpPr txBox="1"/>
          <p:nvPr/>
        </p:nvSpPr>
        <p:spPr>
          <a:xfrm>
            <a:off x="6400800" y="4352544"/>
            <a:ext cx="2395728" cy="310896"/>
          </a:xfrm>
          <a:prstGeom prst="rect">
            <a:avLst/>
          </a:prstGeom>
          <a:noFill/>
          <a:ln/>
        </p:spPr>
        <p:txBody>
          <a:bodyPr wrap="square" lIns="0" tIns="0" rIns="0" bIns="0" rtlCol="0" anchor="ctr"/>
          <a:lstStyle/>
          <a:p>
            <a:pPr indent="0" marL="0">
              <a:buNone/>
            </a:pPr>
            <a:r>
              <a:rPr lang="en-US" sz="1050" dirty="0">
                <a:solidFill>
                  <a:srgbClr val="3D4B5C"/>
                </a:solidFill>
              </a:rPr>
              <a:t>log GDP Per Capita</a:t>
            </a:r>
            <a:endParaRPr lang="en-US" sz="1050" dirty="0"/>
          </a:p>
        </p:txBody>
      </p:sp>
      <p:sp>
        <p:nvSpPr>
          <p:cNvPr id="38" name="corr-bar-8"/>
          <p:cNvSpPr/>
          <p:nvPr/>
        </p:nvSpPr>
        <p:spPr>
          <a:xfrm>
            <a:off x="9144000" y="4416552"/>
            <a:ext cx="64282" cy="182880"/>
          </a:xfrm>
          <a:prstGeom prst="rect">
            <a:avLst/>
          </a:prstGeom>
          <a:solidFill>
            <a:schemeClr val="accent3"/>
          </a:solidFill>
          <a:ln w="12700">
            <a:solidFill>
              <a:schemeClr val="accent3"/>
            </a:solidFill>
            <a:prstDash val="solid"/>
          </a:ln>
        </p:spPr>
      </p:sp>
      <p:sp>
        <p:nvSpPr>
          <p:cNvPr id="39" name="corr-zero-8"/>
          <p:cNvSpPr/>
          <p:nvPr/>
        </p:nvSpPr>
        <p:spPr>
          <a:xfrm>
            <a:off x="9144000" y="4370832"/>
            <a:ext cx="0" cy="274320"/>
          </a:xfrm>
          <a:prstGeom prst="line">
            <a:avLst/>
          </a:prstGeom>
          <a:noFill/>
          <a:ln w="9525">
            <a:solidFill>
              <a:srgbClr val="B9C4D1"/>
            </a:solidFill>
            <a:prstDash val="solid"/>
          </a:ln>
        </p:spPr>
      </p:sp>
      <p:sp>
        <p:nvSpPr>
          <p:cNvPr id="40" name="Text 37"/>
          <p:cNvSpPr txBox="1"/>
          <p:nvPr/>
        </p:nvSpPr>
        <p:spPr>
          <a:xfrm>
            <a:off x="11018520" y="4352544"/>
            <a:ext cx="621792" cy="310896"/>
          </a:xfrm>
          <a:prstGeom prst="rect">
            <a:avLst/>
          </a:prstGeom>
          <a:noFill/>
          <a:ln/>
        </p:spPr>
        <p:txBody>
          <a:bodyPr wrap="square" lIns="0" tIns="0" rIns="0" bIns="0" rtlCol="0" anchor="ctr"/>
          <a:lstStyle/>
          <a:p>
            <a:pPr algn="r" indent="0" marL="0">
              <a:buNone/>
            </a:pPr>
            <a:r>
              <a:rPr lang="en-US" sz="1050" b="1" dirty="0">
                <a:solidFill>
                  <a:schemeClr val="accent3"/>
                </a:solidFill>
              </a:rPr>
              <a:t>+0.04</a:t>
            </a:r>
            <a:endParaRPr lang="en-US" sz="1050" dirty="0"/>
          </a:p>
        </p:txBody>
      </p:sp>
      <p:sp>
        <p:nvSpPr>
          <p:cNvPr id="41" name="Text 38"/>
          <p:cNvSpPr txBox="1"/>
          <p:nvPr/>
        </p:nvSpPr>
        <p:spPr>
          <a:xfrm>
            <a:off x="6400800" y="4809744"/>
            <a:ext cx="5230368" cy="274320"/>
          </a:xfrm>
          <a:prstGeom prst="rect">
            <a:avLst/>
          </a:prstGeom>
          <a:noFill/>
          <a:ln/>
        </p:spPr>
        <p:txBody>
          <a:bodyPr wrap="square" lIns="0" tIns="0" rIns="0" bIns="0" rtlCol="0" anchor="ctr"/>
          <a:lstStyle/>
          <a:p>
            <a:pPr indent="0" marL="0">
              <a:buNone/>
            </a:pPr>
            <a:r>
              <a:rPr lang="en-US" sz="1000" i="1" dirty="0">
                <a:solidFill>
                  <a:srgbClr val="9AA7B6"/>
                </a:solidFill>
              </a:rPr>
              <a:t>Pearson r, modelling sample (n = 1,890)</a:t>
            </a:r>
            <a:endParaRPr lang="en-US" sz="1000" dirty="0"/>
          </a:p>
        </p:txBody>
      </p:sp>
      <p:sp>
        <p:nvSpPr>
          <p:cNvPr id="42" name="Text 39"/>
          <p:cNvSpPr txBox="1"/>
          <p:nvPr/>
        </p:nvSpPr>
        <p:spPr>
          <a:xfrm>
            <a:off x="6400800" y="5084064"/>
            <a:ext cx="5230368" cy="512064"/>
          </a:xfrm>
          <a:prstGeom prst="rect">
            <a:avLst/>
          </a:prstGeom>
          <a:noFill/>
          <a:ln/>
        </p:spPr>
        <p:txBody>
          <a:bodyPr wrap="square" lIns="0" tIns="0" rIns="0" bIns="0" rtlCol="0" anchor="t"/>
          <a:lstStyle/>
          <a:p>
            <a:pPr indent="0" marL="0">
              <a:buNone/>
            </a:pPr>
            <a:r>
              <a:rPr lang="en-US" sz="1150" b="1" dirty="0">
                <a:solidFill>
                  <a:schemeClr val="accent1"/>
                </a:solidFill>
              </a:rPr>
              <a:t>Being rich ≠ being resilient: log GDP per capita correlates at just +0.04.</a:t>
            </a:r>
            <a:endParaRPr lang="en-US" sz="1150" dirty="0"/>
          </a:p>
        </p:txBody>
      </p:sp>
      <p:sp>
        <p:nvSpPr>
          <p:cNvPr id="43"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44"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Growth (+0.71), debt (−0.61) and inflation (−0.53) dominate; development level is essentially uncorrelated.</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Multiple linear regression (OLS)</a:t>
            </a:r>
            <a:endParaRPr lang="en-US" sz="3000" dirty="0"/>
          </a:p>
        </p:txBody>
      </p:sp>
      <p:sp>
        <p:nvSpPr>
          <p:cNvPr id="3" name="stat-Adjusted R²,"/>
          <p:cNvSpPr/>
          <p:nvPr/>
        </p:nvSpPr>
        <p:spPr>
          <a:xfrm>
            <a:off x="566928" y="1115568"/>
            <a:ext cx="2651760" cy="1371600"/>
          </a:xfrm>
          <a:prstGeom prst="roundRect">
            <a:avLst>
              <a:gd name="adj" fmla="val 4667"/>
            </a:avLst>
          </a:prstGeom>
          <a:solidFill>
            <a:schemeClr val="bg2"/>
          </a:solidFill>
          <a:ln w="12700">
            <a:solidFill>
              <a:schemeClr val="bg2"/>
            </a:solidFill>
            <a:prstDash val="solid"/>
          </a:ln>
        </p:spPr>
      </p:sp>
      <p:sp>
        <p:nvSpPr>
          <p:cNvPr id="4" name="Text 2"/>
          <p:cNvSpPr txBox="1"/>
          <p:nvPr/>
        </p:nvSpPr>
        <p:spPr>
          <a:xfrm>
            <a:off x="676656" y="1243584"/>
            <a:ext cx="2432304" cy="658368"/>
          </a:xfrm>
          <a:prstGeom prst="rect">
            <a:avLst/>
          </a:prstGeom>
          <a:noFill/>
          <a:ln/>
        </p:spPr>
        <p:txBody>
          <a:bodyPr wrap="square" lIns="0" tIns="0" rIns="0" bIns="0" rtlCol="0" anchor="ctr"/>
          <a:lstStyle/>
          <a:p>
            <a:pPr algn="ctr" indent="0" marL="0">
              <a:buNone/>
            </a:pPr>
            <a:r>
              <a:rPr lang="en-US" sz="3200" b="1" dirty="0">
                <a:solidFill>
                  <a:schemeClr val="accent1"/>
                </a:solidFill>
              </a:rPr>
              <a:t>0.874</a:t>
            </a:r>
            <a:endParaRPr lang="en-US" sz="3200" dirty="0"/>
          </a:p>
        </p:txBody>
      </p:sp>
      <p:sp>
        <p:nvSpPr>
          <p:cNvPr id="5" name="Text 3"/>
          <p:cNvSpPr txBox="1"/>
          <p:nvPr/>
        </p:nvSpPr>
        <p:spPr>
          <a:xfrm>
            <a:off x="676656" y="1901952"/>
            <a:ext cx="2432304" cy="475488"/>
          </a:xfrm>
          <a:prstGeom prst="rect">
            <a:avLst/>
          </a:prstGeom>
          <a:noFill/>
          <a:ln/>
        </p:spPr>
        <p:txBody>
          <a:bodyPr wrap="square" lIns="0" tIns="0" rIns="0" bIns="0" rtlCol="0" anchor="t"/>
          <a:lstStyle/>
          <a:p>
            <a:pPr algn="ctr" indent="0" marL="0">
              <a:buNone/>
            </a:pPr>
            <a:r>
              <a:rPr lang="en-US" sz="1100" dirty="0">
                <a:solidFill>
                  <a:srgbClr val="5A6B7D"/>
                </a:solidFill>
              </a:rPr>
              <a:t>Adjusted R², training</a:t>
            </a:r>
            <a:endParaRPr lang="en-US" sz="1100" dirty="0"/>
          </a:p>
        </p:txBody>
      </p:sp>
      <p:sp>
        <p:nvSpPr>
          <p:cNvPr id="6" name="stat-Hold-out R² "/>
          <p:cNvSpPr/>
          <p:nvPr/>
        </p:nvSpPr>
        <p:spPr>
          <a:xfrm>
            <a:off x="3337560" y="1115568"/>
            <a:ext cx="2651760" cy="1371600"/>
          </a:xfrm>
          <a:prstGeom prst="roundRect">
            <a:avLst>
              <a:gd name="adj" fmla="val 4667"/>
            </a:avLst>
          </a:prstGeom>
          <a:solidFill>
            <a:schemeClr val="bg2"/>
          </a:solidFill>
          <a:ln w="12700">
            <a:solidFill>
              <a:schemeClr val="bg2"/>
            </a:solidFill>
            <a:prstDash val="solid"/>
          </a:ln>
        </p:spPr>
      </p:sp>
      <p:sp>
        <p:nvSpPr>
          <p:cNvPr id="7" name="Text 5"/>
          <p:cNvSpPr txBox="1"/>
          <p:nvPr/>
        </p:nvSpPr>
        <p:spPr>
          <a:xfrm>
            <a:off x="3447288" y="1243584"/>
            <a:ext cx="2432304" cy="658368"/>
          </a:xfrm>
          <a:prstGeom prst="rect">
            <a:avLst/>
          </a:prstGeom>
          <a:noFill/>
          <a:ln/>
        </p:spPr>
        <p:txBody>
          <a:bodyPr wrap="square" lIns="0" tIns="0" rIns="0" bIns="0" rtlCol="0" anchor="ctr"/>
          <a:lstStyle/>
          <a:p>
            <a:pPr algn="ctr" indent="0" marL="0">
              <a:buNone/>
            </a:pPr>
            <a:r>
              <a:rPr lang="en-US" sz="3200" b="1" dirty="0">
                <a:solidFill>
                  <a:schemeClr val="accent3"/>
                </a:solidFill>
              </a:rPr>
              <a:t>0.896</a:t>
            </a:r>
            <a:endParaRPr lang="en-US" sz="3200" dirty="0"/>
          </a:p>
        </p:txBody>
      </p:sp>
      <p:sp>
        <p:nvSpPr>
          <p:cNvPr id="8" name="Text 6"/>
          <p:cNvSpPr txBox="1"/>
          <p:nvPr/>
        </p:nvSpPr>
        <p:spPr>
          <a:xfrm>
            <a:off x="3447288" y="1901952"/>
            <a:ext cx="2432304" cy="475488"/>
          </a:xfrm>
          <a:prstGeom prst="rect">
            <a:avLst/>
          </a:prstGeom>
          <a:noFill/>
          <a:ln/>
        </p:spPr>
        <p:txBody>
          <a:bodyPr wrap="square" lIns="0" tIns="0" rIns="0" bIns="0" rtlCol="0" anchor="t"/>
          <a:lstStyle/>
          <a:p>
            <a:pPr algn="ctr" indent="0" marL="0">
              <a:buNone/>
            </a:pPr>
            <a:r>
              <a:rPr lang="en-US" sz="1100" dirty="0">
                <a:solidFill>
                  <a:srgbClr val="5A6B7D"/>
                </a:solidFill>
              </a:rPr>
              <a:t>Hold-out R² (25% split)</a:t>
            </a:r>
            <a:endParaRPr lang="en-US" sz="1100" dirty="0"/>
          </a:p>
        </p:txBody>
      </p:sp>
      <p:sp>
        <p:nvSpPr>
          <p:cNvPr id="9" name="stat-RMSE, points"/>
          <p:cNvSpPr/>
          <p:nvPr/>
        </p:nvSpPr>
        <p:spPr>
          <a:xfrm>
            <a:off x="6108192" y="1115568"/>
            <a:ext cx="2651760" cy="1371600"/>
          </a:xfrm>
          <a:prstGeom prst="roundRect">
            <a:avLst>
              <a:gd name="adj" fmla="val 4667"/>
            </a:avLst>
          </a:prstGeom>
          <a:solidFill>
            <a:schemeClr val="bg2"/>
          </a:solidFill>
          <a:ln w="12700">
            <a:solidFill>
              <a:schemeClr val="bg2"/>
            </a:solidFill>
            <a:prstDash val="solid"/>
          </a:ln>
        </p:spPr>
      </p:sp>
      <p:sp>
        <p:nvSpPr>
          <p:cNvPr id="10" name="Text 8"/>
          <p:cNvSpPr txBox="1"/>
          <p:nvPr/>
        </p:nvSpPr>
        <p:spPr>
          <a:xfrm>
            <a:off x="6217920" y="1243584"/>
            <a:ext cx="2432304" cy="658368"/>
          </a:xfrm>
          <a:prstGeom prst="rect">
            <a:avLst/>
          </a:prstGeom>
          <a:noFill/>
          <a:ln/>
        </p:spPr>
        <p:txBody>
          <a:bodyPr wrap="square" lIns="0" tIns="0" rIns="0" bIns="0" rtlCol="0" anchor="ctr"/>
          <a:lstStyle/>
          <a:p>
            <a:pPr algn="ctr" indent="0" marL="0">
              <a:buNone/>
            </a:pPr>
            <a:r>
              <a:rPr lang="en-US" sz="3200" b="1" dirty="0">
                <a:solidFill>
                  <a:schemeClr val="accent1"/>
                </a:solidFill>
              </a:rPr>
              <a:t>4.73</a:t>
            </a:r>
            <a:endParaRPr lang="en-US" sz="3200" dirty="0"/>
          </a:p>
        </p:txBody>
      </p:sp>
      <p:sp>
        <p:nvSpPr>
          <p:cNvPr id="11" name="Text 9"/>
          <p:cNvSpPr txBox="1"/>
          <p:nvPr/>
        </p:nvSpPr>
        <p:spPr>
          <a:xfrm>
            <a:off x="6217920" y="1901952"/>
            <a:ext cx="2432304" cy="475488"/>
          </a:xfrm>
          <a:prstGeom prst="rect">
            <a:avLst/>
          </a:prstGeom>
          <a:noFill/>
          <a:ln/>
        </p:spPr>
        <p:txBody>
          <a:bodyPr wrap="square" lIns="0" tIns="0" rIns="0" bIns="0" rtlCol="0" anchor="t"/>
          <a:lstStyle/>
          <a:p>
            <a:pPr algn="ctr" indent="0" marL="0">
              <a:buNone/>
            </a:pPr>
            <a:r>
              <a:rPr lang="en-US" sz="1100" dirty="0">
                <a:solidFill>
                  <a:srgbClr val="5A6B7D"/>
                </a:solidFill>
              </a:rPr>
              <a:t>RMSE, points of 100</a:t>
            </a:r>
            <a:endParaRPr lang="en-US" sz="1100" dirty="0"/>
          </a:p>
        </p:txBody>
      </p:sp>
      <p:sp>
        <p:nvSpPr>
          <p:cNvPr id="12" name="stat-F-statistic,"/>
          <p:cNvSpPr/>
          <p:nvPr/>
        </p:nvSpPr>
        <p:spPr>
          <a:xfrm>
            <a:off x="8878824" y="1115568"/>
            <a:ext cx="2752344" cy="1371600"/>
          </a:xfrm>
          <a:prstGeom prst="roundRect">
            <a:avLst>
              <a:gd name="adj" fmla="val 4667"/>
            </a:avLst>
          </a:prstGeom>
          <a:solidFill>
            <a:schemeClr val="bg2"/>
          </a:solidFill>
          <a:ln w="12700">
            <a:solidFill>
              <a:schemeClr val="bg2"/>
            </a:solidFill>
            <a:prstDash val="solid"/>
          </a:ln>
        </p:spPr>
      </p:sp>
      <p:sp>
        <p:nvSpPr>
          <p:cNvPr id="13" name="Text 11"/>
          <p:cNvSpPr txBox="1"/>
          <p:nvPr/>
        </p:nvSpPr>
        <p:spPr>
          <a:xfrm>
            <a:off x="8988552" y="1243584"/>
            <a:ext cx="2532888" cy="658368"/>
          </a:xfrm>
          <a:prstGeom prst="rect">
            <a:avLst/>
          </a:prstGeom>
          <a:noFill/>
          <a:ln/>
        </p:spPr>
        <p:txBody>
          <a:bodyPr wrap="square" lIns="0" tIns="0" rIns="0" bIns="0" rtlCol="0" anchor="ctr"/>
          <a:lstStyle/>
          <a:p>
            <a:pPr algn="ctr" indent="0" marL="0">
              <a:buNone/>
            </a:pPr>
            <a:r>
              <a:rPr lang="en-US" sz="3200" b="1" dirty="0">
                <a:solidFill>
                  <a:schemeClr val="accent4"/>
                </a:solidFill>
              </a:rPr>
              <a:t>1,402</a:t>
            </a:r>
            <a:endParaRPr lang="en-US" sz="3200" dirty="0"/>
          </a:p>
        </p:txBody>
      </p:sp>
      <p:sp>
        <p:nvSpPr>
          <p:cNvPr id="14" name="Text 12"/>
          <p:cNvSpPr txBox="1"/>
          <p:nvPr/>
        </p:nvSpPr>
        <p:spPr>
          <a:xfrm>
            <a:off x="8988552" y="1901952"/>
            <a:ext cx="2532888" cy="475488"/>
          </a:xfrm>
          <a:prstGeom prst="rect">
            <a:avLst/>
          </a:prstGeom>
          <a:noFill/>
          <a:ln/>
        </p:spPr>
        <p:txBody>
          <a:bodyPr wrap="square" lIns="0" tIns="0" rIns="0" bIns="0" rtlCol="0" anchor="t"/>
          <a:lstStyle/>
          <a:p>
            <a:pPr algn="ctr" indent="0" marL="0">
              <a:buNone/>
            </a:pPr>
            <a:r>
              <a:rPr lang="en-US" sz="1100" dirty="0">
                <a:solidFill>
                  <a:srgbClr val="5A6B7D"/>
                </a:solidFill>
              </a:rPr>
              <a:t>F-statistic, p &lt; 0.001</a:t>
            </a:r>
            <a:endParaRPr lang="en-US" sz="1100" dirty="0"/>
          </a:p>
        </p:txBody>
      </p:sp>
      <p:pic>
        <p:nvPicPr>
          <p:cNvPr id="15" name="Image 0" descr="figures/fig04_ols.png">    </p:cNvPr>
          <p:cNvPicPr>
            <a:picLocks noChangeAspect="1"/>
          </p:cNvPicPr>
          <p:nvPr/>
        </p:nvPicPr>
        <p:blipFill>
          <a:blip r:embed="rId1"/>
          <a:stretch>
            <a:fillRect/>
          </a:stretch>
        </p:blipFill>
        <p:spPr>
          <a:xfrm>
            <a:off x="566928" y="2702298"/>
            <a:ext cx="7315200" cy="2916445"/>
          </a:xfrm>
          <a:prstGeom prst="rect">
            <a:avLst/>
          </a:prstGeom>
        </p:spPr>
      </p:pic>
      <p:sp>
        <p:nvSpPr>
          <p:cNvPr id="16" name="Text 13"/>
          <p:cNvSpPr txBox="1"/>
          <p:nvPr/>
        </p:nvSpPr>
        <p:spPr>
          <a:xfrm>
            <a:off x="8092440" y="2697480"/>
            <a:ext cx="3538728" cy="292608"/>
          </a:xfrm>
          <a:prstGeom prst="rect">
            <a:avLst/>
          </a:prstGeom>
          <a:noFill/>
          <a:ln/>
        </p:spPr>
        <p:txBody>
          <a:bodyPr wrap="square" lIns="0" tIns="0" rIns="0" bIns="0" rtlCol="0" anchor="ctr"/>
          <a:lstStyle/>
          <a:p>
            <a:pPr indent="0" marL="0">
              <a:buNone/>
            </a:pPr>
            <a:r>
              <a:rPr lang="en-US" sz="1400" b="1" dirty="0">
                <a:solidFill>
                  <a:schemeClr val="tx1"/>
                </a:solidFill>
              </a:rPr>
              <a:t>Backward elimination</a:t>
            </a:r>
            <a:endParaRPr lang="en-US" sz="1400" dirty="0"/>
          </a:p>
        </p:txBody>
      </p:sp>
      <p:sp>
        <p:nvSpPr>
          <p:cNvPr id="17" name="Text 14"/>
          <p:cNvSpPr txBox="1"/>
          <p:nvPr/>
        </p:nvSpPr>
        <p:spPr>
          <a:xfrm>
            <a:off x="8092440" y="3017520"/>
            <a:ext cx="3538728" cy="2286000"/>
          </a:xfrm>
          <a:prstGeom prst="rect">
            <a:avLst/>
          </a:prstGeom>
          <a:noFill/>
          <a:ln/>
        </p:spPr>
        <p:txBody>
          <a:bodyPr wrap="square" lIns="0" tIns="0" rIns="0" bIns="0" rtlCol="0" anchor="ctr"/>
          <a:lstStyle/>
          <a:p>
            <a:pPr indent="0" marL="0">
              <a:lnSpc>
                <a:spcPct val="112000"/>
              </a:lnSpc>
              <a:buNone/>
            </a:pPr>
            <a:r>
              <a:rPr lang="en-US" sz="1150" dirty="0">
                <a:solidFill>
                  <a:srgbClr val="3D4B5C"/>
                </a:solidFill>
              </a:rPr>
              <a:t>Start: 8 features, all VIF &lt; 2 — no multicollinearity problem.</a:t>
            </a:r>
            <a:endParaRPr lang="en-US" sz="1150" dirty="0"/>
          </a:p>
          <a:p>
            <a:pPr indent="0" marL="0">
              <a:lnSpc>
                <a:spcPct val="112000"/>
              </a:lnSpc>
              <a:buNone/>
            </a:pPr>
            <a:r>
              <a:rPr lang="en-US" sz="1150" b="1" dirty="0">
                <a:solidFill>
                  <a:srgbClr val="3D4B5C"/>
                </a:solidFill>
              </a:rPr>
              <a:t>Step 1: drop log_GDP_Per_Capita (p = 0.38).</a:t>
            </a:r>
            <a:endParaRPr lang="en-US" sz="1150" dirty="0"/>
          </a:p>
          <a:p>
            <a:pPr indent="0" marL="0">
              <a:lnSpc>
                <a:spcPct val="112000"/>
              </a:lnSpc>
              <a:buNone/>
            </a:pPr>
            <a:r>
              <a:rPr lang="en-US" sz="1150" dirty="0">
                <a:solidFill>
                  <a:srgbClr val="3D4B5C"/>
                </a:solidFill>
              </a:rPr>
              <a:t>Stop: all 7 remaining features significant at α = 0.05.</a:t>
            </a:r>
            <a:endParaRPr lang="en-US" sz="1150" dirty="0"/>
          </a:p>
          <a:p>
            <a:pPr indent="0" marL="0">
              <a:lnSpc>
                <a:spcPct val="112000"/>
              </a:lnSpc>
              <a:buNone/>
            </a:pPr>
            <a:endParaRPr lang="en-US" sz="1150" dirty="0"/>
          </a:p>
          <a:p>
            <a:pPr indent="0" marL="0">
              <a:lnSpc>
                <a:spcPct val="112000"/>
              </a:lnSpc>
              <a:buNone/>
            </a:pPr>
            <a:r>
              <a:rPr lang="en-US" sz="1150" dirty="0">
                <a:solidFill>
                  <a:srgbClr val="3D4B5C"/>
                </a:solidFill>
              </a:rPr>
              <a:t>Hold-out R² exceeds training R² — no overfitting. Every retained coefficient carries its predicted sign.</a:t>
            </a:r>
            <a:endParaRPr lang="en-US" sz="1150" dirty="0"/>
          </a:p>
        </p:txBody>
      </p:sp>
      <p:sp>
        <p:nvSpPr>
          <p:cNvPr id="18"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9"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Seven fundamentals explain 87% of the resilience score; growth (β = +0.62), debt (−0.43) and inflation (−0.35) carry nearly all of it.</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Are the OLS assumptions satisfied?</a:t>
            </a:r>
            <a:endParaRPr lang="en-US" sz="3000" dirty="0"/>
          </a:p>
        </p:txBody>
      </p:sp>
      <p:pic>
        <p:nvPicPr>
          <p:cNvPr id="3" name="Image 0" descr="figures/fig05_residuals.png">    </p:cNvPr>
          <p:cNvPicPr>
            <a:picLocks noChangeAspect="1"/>
          </p:cNvPicPr>
          <p:nvPr/>
        </p:nvPicPr>
        <p:blipFill>
          <a:blip r:embed="rId1"/>
          <a:stretch>
            <a:fillRect/>
          </a:stretch>
        </p:blipFill>
        <p:spPr>
          <a:xfrm>
            <a:off x="2126471" y="1152144"/>
            <a:ext cx="7945153" cy="2286000"/>
          </a:xfrm>
          <a:prstGeom prst="rect">
            <a:avLst/>
          </a:prstGeom>
        </p:spPr>
      </p:pic>
      <p:sp>
        <p:nvSpPr>
          <p:cNvPr id="4" name="check-0"/>
          <p:cNvSpPr/>
          <p:nvPr/>
        </p:nvSpPr>
        <p:spPr>
          <a:xfrm>
            <a:off x="566928" y="3602736"/>
            <a:ext cx="2642616" cy="1975104"/>
          </a:xfrm>
          <a:prstGeom prst="roundRect">
            <a:avLst>
              <a:gd name="adj" fmla="val 3241"/>
            </a:avLst>
          </a:prstGeom>
          <a:solidFill>
            <a:schemeClr val="bg2"/>
          </a:solidFill>
          <a:ln w="12700">
            <a:solidFill>
              <a:schemeClr val="bg2"/>
            </a:solidFill>
            <a:prstDash val="solid"/>
          </a:ln>
        </p:spPr>
      </p:sp>
      <p:sp>
        <p:nvSpPr>
          <p:cNvPr id="5" name="Text 2"/>
          <p:cNvSpPr txBox="1"/>
          <p:nvPr/>
        </p:nvSpPr>
        <p:spPr>
          <a:xfrm>
            <a:off x="749808" y="3730752"/>
            <a:ext cx="2276856" cy="310896"/>
          </a:xfrm>
          <a:prstGeom prst="rect">
            <a:avLst/>
          </a:prstGeom>
          <a:noFill/>
          <a:ln/>
        </p:spPr>
        <p:txBody>
          <a:bodyPr wrap="square" lIns="0" tIns="0" rIns="0" bIns="0" rtlCol="0" anchor="ctr"/>
          <a:lstStyle/>
          <a:p>
            <a:pPr indent="0" marL="0">
              <a:buNone/>
            </a:pPr>
            <a:r>
              <a:rPr lang="en-US" sz="1200" b="1" dirty="0">
                <a:solidFill>
                  <a:schemeClr val="tx1"/>
                </a:solidFill>
              </a:rPr>
              <a:t>Linearity</a:t>
            </a:r>
            <a:endParaRPr lang="en-US" sz="1200" dirty="0"/>
          </a:p>
        </p:txBody>
      </p:sp>
      <p:sp>
        <p:nvSpPr>
          <p:cNvPr id="6" name="Text 3"/>
          <p:cNvSpPr txBox="1"/>
          <p:nvPr/>
        </p:nvSpPr>
        <p:spPr>
          <a:xfrm>
            <a:off x="749808" y="4041648"/>
            <a:ext cx="2276856" cy="365760"/>
          </a:xfrm>
          <a:prstGeom prst="rect">
            <a:avLst/>
          </a:prstGeom>
          <a:noFill/>
          <a:ln/>
        </p:spPr>
        <p:txBody>
          <a:bodyPr wrap="square" lIns="0" tIns="0" rIns="0" bIns="0" rtlCol="0" anchor="ctr"/>
          <a:lstStyle/>
          <a:p>
            <a:pPr indent="0" marL="0">
              <a:buNone/>
            </a:pPr>
            <a:r>
              <a:rPr lang="en-US" sz="1500" b="1" dirty="0">
                <a:solidFill>
                  <a:schemeClr val="accent3"/>
                </a:solidFill>
              </a:rPr>
              <a:t>Satisfied</a:t>
            </a:r>
            <a:endParaRPr lang="en-US" sz="1500" dirty="0"/>
          </a:p>
        </p:txBody>
      </p:sp>
      <p:sp>
        <p:nvSpPr>
          <p:cNvPr id="7" name="Text 4"/>
          <p:cNvSpPr txBox="1"/>
          <p:nvPr/>
        </p:nvSpPr>
        <p:spPr>
          <a:xfrm>
            <a:off x="749808" y="4443984"/>
            <a:ext cx="2276856" cy="1024128"/>
          </a:xfrm>
          <a:prstGeom prst="rect">
            <a:avLst/>
          </a:prstGeom>
          <a:noFill/>
          <a:ln/>
        </p:spPr>
        <p:txBody>
          <a:bodyPr wrap="square" lIns="0" tIns="0" rIns="0" bIns="0" rtlCol="0" anchor="t"/>
          <a:lstStyle/>
          <a:p>
            <a:pPr indent="0" marL="0">
              <a:lnSpc>
                <a:spcPct val="106000"/>
              </a:lnSpc>
              <a:buNone/>
            </a:pPr>
            <a:r>
              <a:rPr lang="en-US" sz="950" dirty="0">
                <a:solidFill>
                  <a:srgbClr val="3D4B5C"/>
                </a:solidFill>
              </a:rPr>
              <a:t>Residuals vs fitted show no systematic curvature — the linear specification is not missing an obvious non-linear term.</a:t>
            </a:r>
            <a:endParaRPr lang="en-US" sz="950" dirty="0"/>
          </a:p>
        </p:txBody>
      </p:sp>
      <p:sp>
        <p:nvSpPr>
          <p:cNvPr id="8" name="check-1"/>
          <p:cNvSpPr/>
          <p:nvPr/>
        </p:nvSpPr>
        <p:spPr>
          <a:xfrm>
            <a:off x="3392424" y="3602736"/>
            <a:ext cx="2642616" cy="1975104"/>
          </a:xfrm>
          <a:prstGeom prst="roundRect">
            <a:avLst>
              <a:gd name="adj" fmla="val 3241"/>
            </a:avLst>
          </a:prstGeom>
          <a:solidFill>
            <a:schemeClr val="bg2"/>
          </a:solidFill>
          <a:ln w="12700">
            <a:solidFill>
              <a:schemeClr val="bg2"/>
            </a:solidFill>
            <a:prstDash val="solid"/>
          </a:ln>
        </p:spPr>
      </p:sp>
      <p:sp>
        <p:nvSpPr>
          <p:cNvPr id="9" name="Text 6"/>
          <p:cNvSpPr txBox="1"/>
          <p:nvPr/>
        </p:nvSpPr>
        <p:spPr>
          <a:xfrm>
            <a:off x="3575304" y="3730752"/>
            <a:ext cx="2276856" cy="310896"/>
          </a:xfrm>
          <a:prstGeom prst="rect">
            <a:avLst/>
          </a:prstGeom>
          <a:noFill/>
          <a:ln/>
        </p:spPr>
        <p:txBody>
          <a:bodyPr wrap="square" lIns="0" tIns="0" rIns="0" bIns="0" rtlCol="0" anchor="ctr"/>
          <a:lstStyle/>
          <a:p>
            <a:pPr indent="0" marL="0">
              <a:buNone/>
            </a:pPr>
            <a:r>
              <a:rPr lang="en-US" sz="1200" b="1" dirty="0">
                <a:solidFill>
                  <a:schemeClr val="tx1"/>
                </a:solidFill>
              </a:rPr>
              <a:t>Independence</a:t>
            </a:r>
            <a:endParaRPr lang="en-US" sz="1200" dirty="0"/>
          </a:p>
        </p:txBody>
      </p:sp>
      <p:sp>
        <p:nvSpPr>
          <p:cNvPr id="10" name="Text 7"/>
          <p:cNvSpPr txBox="1"/>
          <p:nvPr/>
        </p:nvSpPr>
        <p:spPr>
          <a:xfrm>
            <a:off x="3575304" y="4041648"/>
            <a:ext cx="2276856" cy="365760"/>
          </a:xfrm>
          <a:prstGeom prst="rect">
            <a:avLst/>
          </a:prstGeom>
          <a:noFill/>
          <a:ln/>
        </p:spPr>
        <p:txBody>
          <a:bodyPr wrap="square" lIns="0" tIns="0" rIns="0" bIns="0" rtlCol="0" anchor="ctr"/>
          <a:lstStyle/>
          <a:p>
            <a:pPr indent="0" marL="0">
              <a:buNone/>
            </a:pPr>
            <a:r>
              <a:rPr lang="en-US" sz="1500" b="1" dirty="0">
                <a:solidFill>
                  <a:schemeClr val="accent3"/>
                </a:solidFill>
              </a:rPr>
              <a:t>DW = 1.99</a:t>
            </a:r>
            <a:endParaRPr lang="en-US" sz="1500" dirty="0"/>
          </a:p>
        </p:txBody>
      </p:sp>
      <p:sp>
        <p:nvSpPr>
          <p:cNvPr id="11" name="Text 8"/>
          <p:cNvSpPr txBox="1"/>
          <p:nvPr/>
        </p:nvSpPr>
        <p:spPr>
          <a:xfrm>
            <a:off x="3575304" y="4443984"/>
            <a:ext cx="2276856" cy="1024128"/>
          </a:xfrm>
          <a:prstGeom prst="rect">
            <a:avLst/>
          </a:prstGeom>
          <a:noFill/>
          <a:ln/>
        </p:spPr>
        <p:txBody>
          <a:bodyPr wrap="square" lIns="0" tIns="0" rIns="0" bIns="0" rtlCol="0" anchor="t"/>
          <a:lstStyle/>
          <a:p>
            <a:pPr indent="0" marL="0">
              <a:lnSpc>
                <a:spcPct val="106000"/>
              </a:lnSpc>
              <a:buNone/>
            </a:pPr>
            <a:r>
              <a:rPr lang="en-US" sz="950" dirty="0">
                <a:solidFill>
                  <a:srgbClr val="3D4B5C"/>
                </a:solidFill>
              </a:rPr>
              <a:t>Durbin–Watson sits almost exactly at 2, so there is no residual autocorrelation in the pooled sample.</a:t>
            </a:r>
            <a:endParaRPr lang="en-US" sz="950" dirty="0"/>
          </a:p>
        </p:txBody>
      </p:sp>
      <p:sp>
        <p:nvSpPr>
          <p:cNvPr id="12" name="check-2"/>
          <p:cNvSpPr/>
          <p:nvPr/>
        </p:nvSpPr>
        <p:spPr>
          <a:xfrm>
            <a:off x="6217920" y="3602736"/>
            <a:ext cx="2642616" cy="1975104"/>
          </a:xfrm>
          <a:prstGeom prst="roundRect">
            <a:avLst>
              <a:gd name="adj" fmla="val 3241"/>
            </a:avLst>
          </a:prstGeom>
          <a:solidFill>
            <a:schemeClr val="bg2"/>
          </a:solidFill>
          <a:ln w="12700">
            <a:solidFill>
              <a:schemeClr val="bg2"/>
            </a:solidFill>
            <a:prstDash val="solid"/>
          </a:ln>
        </p:spPr>
      </p:sp>
      <p:sp>
        <p:nvSpPr>
          <p:cNvPr id="13" name="Text 10"/>
          <p:cNvSpPr txBox="1"/>
          <p:nvPr/>
        </p:nvSpPr>
        <p:spPr>
          <a:xfrm>
            <a:off x="6400800" y="3730752"/>
            <a:ext cx="2276856" cy="310896"/>
          </a:xfrm>
          <a:prstGeom prst="rect">
            <a:avLst/>
          </a:prstGeom>
          <a:noFill/>
          <a:ln/>
        </p:spPr>
        <p:txBody>
          <a:bodyPr wrap="square" lIns="0" tIns="0" rIns="0" bIns="0" rtlCol="0" anchor="ctr"/>
          <a:lstStyle/>
          <a:p>
            <a:pPr indent="0" marL="0">
              <a:buNone/>
            </a:pPr>
            <a:r>
              <a:rPr lang="en-US" sz="1200" b="1" dirty="0">
                <a:solidFill>
                  <a:schemeClr val="tx1"/>
                </a:solidFill>
              </a:rPr>
              <a:t>No multicollinearity</a:t>
            </a:r>
            <a:endParaRPr lang="en-US" sz="1200" dirty="0"/>
          </a:p>
        </p:txBody>
      </p:sp>
      <p:sp>
        <p:nvSpPr>
          <p:cNvPr id="14" name="Text 11"/>
          <p:cNvSpPr txBox="1"/>
          <p:nvPr/>
        </p:nvSpPr>
        <p:spPr>
          <a:xfrm>
            <a:off x="6400800" y="4041648"/>
            <a:ext cx="2276856" cy="365760"/>
          </a:xfrm>
          <a:prstGeom prst="rect">
            <a:avLst/>
          </a:prstGeom>
          <a:noFill/>
          <a:ln/>
        </p:spPr>
        <p:txBody>
          <a:bodyPr wrap="square" lIns="0" tIns="0" rIns="0" bIns="0" rtlCol="0" anchor="ctr"/>
          <a:lstStyle/>
          <a:p>
            <a:pPr indent="0" marL="0">
              <a:buNone/>
            </a:pPr>
            <a:r>
              <a:rPr lang="en-US" sz="1500" b="1" dirty="0">
                <a:solidFill>
                  <a:schemeClr val="accent3"/>
                </a:solidFill>
              </a:rPr>
              <a:t>All VIF &lt; 2</a:t>
            </a:r>
            <a:endParaRPr lang="en-US" sz="1500" dirty="0"/>
          </a:p>
        </p:txBody>
      </p:sp>
      <p:sp>
        <p:nvSpPr>
          <p:cNvPr id="15" name="Text 12"/>
          <p:cNvSpPr txBox="1"/>
          <p:nvPr/>
        </p:nvSpPr>
        <p:spPr>
          <a:xfrm>
            <a:off x="6400800" y="4443984"/>
            <a:ext cx="2276856" cy="1024128"/>
          </a:xfrm>
          <a:prstGeom prst="rect">
            <a:avLst/>
          </a:prstGeom>
          <a:noFill/>
          <a:ln/>
        </p:spPr>
        <p:txBody>
          <a:bodyPr wrap="square" lIns="0" tIns="0" rIns="0" bIns="0" rtlCol="0" anchor="t"/>
          <a:lstStyle/>
          <a:p>
            <a:pPr indent="0" marL="0">
              <a:lnSpc>
                <a:spcPct val="106000"/>
              </a:lnSpc>
              <a:buNone/>
            </a:pPr>
            <a:r>
              <a:rPr lang="en-US" sz="950" dirty="0">
                <a:solidFill>
                  <a:srgbClr val="3D4B5C"/>
                </a:solidFill>
              </a:rPr>
              <a:t>Every variance inflation factor is far below the threshold of 5, so coefficients are separately identified.</a:t>
            </a:r>
            <a:endParaRPr lang="en-US" sz="950" dirty="0"/>
          </a:p>
        </p:txBody>
      </p:sp>
      <p:sp>
        <p:nvSpPr>
          <p:cNvPr id="16" name="check-3"/>
          <p:cNvSpPr/>
          <p:nvPr/>
        </p:nvSpPr>
        <p:spPr>
          <a:xfrm>
            <a:off x="9043416" y="3602736"/>
            <a:ext cx="2642616" cy="1975104"/>
          </a:xfrm>
          <a:prstGeom prst="roundRect">
            <a:avLst>
              <a:gd name="adj" fmla="val 3241"/>
            </a:avLst>
          </a:prstGeom>
          <a:solidFill>
            <a:schemeClr val="bg2"/>
          </a:solidFill>
          <a:ln w="12700">
            <a:solidFill>
              <a:schemeClr val="bg2"/>
            </a:solidFill>
            <a:prstDash val="solid"/>
          </a:ln>
        </p:spPr>
      </p:sp>
      <p:sp>
        <p:nvSpPr>
          <p:cNvPr id="17" name="Text 14"/>
          <p:cNvSpPr txBox="1"/>
          <p:nvPr/>
        </p:nvSpPr>
        <p:spPr>
          <a:xfrm>
            <a:off x="9226296" y="3730752"/>
            <a:ext cx="2276856" cy="310896"/>
          </a:xfrm>
          <a:prstGeom prst="rect">
            <a:avLst/>
          </a:prstGeom>
          <a:noFill/>
          <a:ln/>
        </p:spPr>
        <p:txBody>
          <a:bodyPr wrap="square" lIns="0" tIns="0" rIns="0" bIns="0" rtlCol="0" anchor="ctr"/>
          <a:lstStyle/>
          <a:p>
            <a:pPr indent="0" marL="0">
              <a:buNone/>
            </a:pPr>
            <a:r>
              <a:rPr lang="en-US" sz="1200" b="1" dirty="0">
                <a:solidFill>
                  <a:schemeClr val="tx1"/>
                </a:solidFill>
              </a:rPr>
              <a:t>Normality of residuals</a:t>
            </a:r>
            <a:endParaRPr lang="en-US" sz="1200" dirty="0"/>
          </a:p>
        </p:txBody>
      </p:sp>
      <p:sp>
        <p:nvSpPr>
          <p:cNvPr id="18" name="Text 15"/>
          <p:cNvSpPr txBox="1"/>
          <p:nvPr/>
        </p:nvSpPr>
        <p:spPr>
          <a:xfrm>
            <a:off x="9226296" y="4041648"/>
            <a:ext cx="2276856" cy="365760"/>
          </a:xfrm>
          <a:prstGeom prst="rect">
            <a:avLst/>
          </a:prstGeom>
          <a:noFill/>
          <a:ln/>
        </p:spPr>
        <p:txBody>
          <a:bodyPr wrap="square" lIns="0" tIns="0" rIns="0" bIns="0" rtlCol="0" anchor="ctr"/>
          <a:lstStyle/>
          <a:p>
            <a:pPr indent="0" marL="0">
              <a:buNone/>
            </a:pPr>
            <a:r>
              <a:rPr lang="en-US" sz="1500" b="1" dirty="0">
                <a:solidFill>
                  <a:schemeClr val="accent2"/>
                </a:solidFill>
              </a:rPr>
              <a:t>Rejected</a:t>
            </a:r>
            <a:endParaRPr lang="en-US" sz="1500" dirty="0"/>
          </a:p>
        </p:txBody>
      </p:sp>
      <p:sp>
        <p:nvSpPr>
          <p:cNvPr id="19" name="Text 16"/>
          <p:cNvSpPr txBox="1"/>
          <p:nvPr/>
        </p:nvSpPr>
        <p:spPr>
          <a:xfrm>
            <a:off x="9226296" y="4443984"/>
            <a:ext cx="2276856" cy="1024128"/>
          </a:xfrm>
          <a:prstGeom prst="rect">
            <a:avLst/>
          </a:prstGeom>
          <a:noFill/>
          <a:ln/>
        </p:spPr>
        <p:txBody>
          <a:bodyPr wrap="square" lIns="0" tIns="0" rIns="0" bIns="0" rtlCol="0" anchor="t"/>
          <a:lstStyle/>
          <a:p>
            <a:pPr indent="0" marL="0">
              <a:lnSpc>
                <a:spcPct val="106000"/>
              </a:lnSpc>
              <a:buNone/>
            </a:pPr>
            <a:r>
              <a:rPr lang="en-US" sz="950" dirty="0">
                <a:solidFill>
                  <a:srgbClr val="3D4B5C"/>
                </a:solidFill>
              </a:rPr>
              <a:t>Jarque–Bera rejects (kurtosis 9.57): residuals are symmetric but heavy-tailed, from crisis country-years.</a:t>
            </a:r>
            <a:endParaRPr lang="en-US" sz="950" dirty="0"/>
          </a:p>
        </p:txBody>
      </p:sp>
      <p:sp>
        <p:nvSpPr>
          <p:cNvPr id="20"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21"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Three of four assumptions hold outright; non-normal residuals are harmless at n = 1,417 because the CLT still delivers valid inference.</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Logistic regression — classifying high-resilience economies</a:t>
            </a:r>
            <a:endParaRPr lang="en-US" sz="3000" dirty="0"/>
          </a:p>
        </p:txBody>
      </p:sp>
      <p:pic>
        <p:nvPicPr>
          <p:cNvPr id="3" name="Image 0" descr="figures/fig06_logistic.png">    </p:cNvPr>
          <p:cNvPicPr>
            <a:picLocks noChangeAspect="1"/>
          </p:cNvPicPr>
          <p:nvPr/>
        </p:nvPicPr>
        <p:blipFill>
          <a:blip r:embed="rId1"/>
          <a:stretch>
            <a:fillRect/>
          </a:stretch>
        </p:blipFill>
        <p:spPr>
          <a:xfrm>
            <a:off x="566928" y="1409571"/>
            <a:ext cx="6858000" cy="2621537"/>
          </a:xfrm>
          <a:prstGeom prst="rect">
            <a:avLst/>
          </a:prstGeom>
        </p:spPr>
      </p:pic>
      <p:sp>
        <p:nvSpPr>
          <p:cNvPr id="4" name="Text 1"/>
          <p:cNvSpPr txBox="1"/>
          <p:nvPr/>
        </p:nvSpPr>
        <p:spPr>
          <a:xfrm>
            <a:off x="7726680" y="1188720"/>
            <a:ext cx="3904488" cy="310896"/>
          </a:xfrm>
          <a:prstGeom prst="rect">
            <a:avLst/>
          </a:prstGeom>
          <a:noFill/>
          <a:ln/>
        </p:spPr>
        <p:txBody>
          <a:bodyPr wrap="square" lIns="0" tIns="0" rIns="0" bIns="0" rtlCol="0" anchor="ctr"/>
          <a:lstStyle/>
          <a:p>
            <a:pPr indent="0" marL="0">
              <a:buNone/>
            </a:pPr>
            <a:r>
              <a:rPr lang="en-US" sz="1350" b="1" dirty="0">
                <a:solidFill>
                  <a:schemeClr val="tx1"/>
                </a:solidFill>
              </a:rPr>
              <a:t>Odds ratios, per 1 SD of the feature</a:t>
            </a:r>
            <a:endParaRPr lang="en-US" sz="1350" dirty="0"/>
          </a:p>
        </p:txBody>
      </p:sp>
      <p:graphicFrame>
        <p:nvGraphicFramePr>
          <p:cNvPr id="10" name="odds-table"/>
          <p:cNvGraphicFramePr>
            <a:graphicFrameLocks noGrp="1"/>
          </p:cNvGraphicFramePr>
          <p:nvPr>
            <p:extLst>
              <p:ext uri="{D42A27DB-BD31-4B8C-83A1-F6EECF244321}">
                <p14:modId xmlns:p14="http://schemas.microsoft.com/office/powerpoint/2010/main" val="1579011935"/>
              </p:ext>
            </p:extLst>
          </p:nvPr>
        </p:nvGraphicFramePr>
        <p:xfrm>
          <a:off x="7726680" y="1536192"/>
          <a:ext cx="3904488" cy="914400"/>
        </p:xfrm>
        <a:graphic>
          <a:graphicData uri="http://schemas.openxmlformats.org/drawingml/2006/table">
            <a:tbl>
              <a:tblPr/>
              <a:tblGrid>
                <a:gridCol w="1572768"/>
                <a:gridCol w="1325880"/>
                <a:gridCol w="1005840"/>
              </a:tblGrid>
              <a:tr h="283464">
                <a:tc>
                  <a:txBody>
                    <a:bodyPr/>
                    <a:lstStyle/>
                    <a:p>
                      <a:pPr indent="0" marL="0">
                        <a:buNone/>
                      </a:pPr>
                      <a:r>
                        <a:rPr lang="en-US" sz="1050" b="1" dirty="0">
                          <a:solidFill>
                            <a:schemeClr val="tx1"/>
                          </a:solidFill>
                        </a:rPr>
                        <a:t>Feature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Odds ratio</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Effect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Growth</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493</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3D8361"/>
                          </a:solidFill>
                        </a:rPr>
                        <a:t>raises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Debt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0.008</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C44536"/>
                          </a:solidFill>
                        </a:rPr>
                        <a:t>cuts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Inflation</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0.009</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C44536"/>
                          </a:solidFill>
                        </a:rPr>
                        <a:t>cuts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Fiscal bal.</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1.057</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3D8361"/>
                          </a:solidFill>
                        </a:rPr>
                        <a:t>raises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Curr. acct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1.016</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3D8361"/>
                          </a:solidFill>
                        </a:rPr>
                        <a:t>raises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283464">
                <a:tc>
                  <a:txBody>
                    <a:bodyPr/>
                    <a:lstStyle/>
                    <a:p>
                      <a:pPr indent="0" marL="0">
                        <a:buNone/>
                      </a:pPr>
                      <a:r>
                        <a:rPr lang="en-US" sz="1050" dirty="0">
                          <a:solidFill>
                            <a:schemeClr val="tx1"/>
                          </a:solidFill>
                        </a:rPr>
                        <a:t>Unemploy.</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0.959</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C44536"/>
                          </a:solidFill>
                        </a:rPr>
                        <a:t>cuts</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726680" y="3611880"/>
            <a:ext cx="3904488" cy="1371600"/>
          </a:xfrm>
          <a:prstGeom prst="rect">
            <a:avLst/>
          </a:prstGeom>
          <a:noFill/>
          <a:ln/>
        </p:spPr>
        <p:txBody>
          <a:bodyPr wrap="square" lIns="0" tIns="0" rIns="0" bIns="0" rtlCol="0" anchor="ctr"/>
          <a:lstStyle/>
          <a:p>
            <a:pPr indent="0" marL="0">
              <a:lnSpc>
                <a:spcPct val="110000"/>
              </a:lnSpc>
              <a:buNone/>
            </a:pPr>
            <a:r>
              <a:rPr lang="en-US" sz="1100" b="1" dirty="0">
                <a:solidFill>
                  <a:srgbClr val="3D4B5C"/>
                </a:solidFill>
              </a:rPr>
              <a:t>Reading the odds. </a:t>
            </a:r>
            <a:pPr indent="0" marL="0">
              <a:lnSpc>
                <a:spcPct val="110000"/>
              </a:lnSpc>
              <a:buNone/>
            </a:pPr>
            <a:r>
              <a:rPr lang="en-US" sz="1100" dirty="0">
                <a:solidFill>
                  <a:srgbClr val="3D4B5C"/>
                </a:solidFill>
              </a:rPr>
              <a:t>One extra standard deviation of growth multiplies the odds of high-resilience status by a very large factor; a standard deviation of debt or inflation cuts them by roughly two orders of magnitude (≈0.008 and ≈0.009).</a:t>
            </a:r>
            <a:endParaRPr lang="en-US" sz="1100" dirty="0"/>
          </a:p>
        </p:txBody>
      </p:sp>
      <p:sp>
        <p:nvSpPr>
          <p:cNvPr id="7" name="stat-Accuracy"/>
          <p:cNvSpPr/>
          <p:nvPr/>
        </p:nvSpPr>
        <p:spPr>
          <a:xfrm>
            <a:off x="566928" y="4114800"/>
            <a:ext cx="2212848" cy="1371600"/>
          </a:xfrm>
          <a:prstGeom prst="roundRect">
            <a:avLst>
              <a:gd name="adj" fmla="val 4667"/>
            </a:avLst>
          </a:prstGeom>
          <a:solidFill>
            <a:schemeClr val="bg2"/>
          </a:solidFill>
          <a:ln w="12700">
            <a:solidFill>
              <a:schemeClr val="bg2"/>
            </a:solidFill>
            <a:prstDash val="solid"/>
          </a:ln>
        </p:spPr>
      </p:sp>
      <p:sp>
        <p:nvSpPr>
          <p:cNvPr id="8" name="Text 4"/>
          <p:cNvSpPr txBox="1"/>
          <p:nvPr/>
        </p:nvSpPr>
        <p:spPr>
          <a:xfrm>
            <a:off x="676656" y="4242816"/>
            <a:ext cx="1993392" cy="658368"/>
          </a:xfrm>
          <a:prstGeom prst="rect">
            <a:avLst/>
          </a:prstGeom>
          <a:noFill/>
          <a:ln/>
        </p:spPr>
        <p:txBody>
          <a:bodyPr wrap="square" lIns="0" tIns="0" rIns="0" bIns="0" rtlCol="0" anchor="ctr"/>
          <a:lstStyle/>
          <a:p>
            <a:pPr algn="ctr" indent="0" marL="0">
              <a:buNone/>
            </a:pPr>
            <a:r>
              <a:rPr lang="en-US" sz="3200" b="1" dirty="0">
                <a:solidFill>
                  <a:schemeClr val="accent1"/>
                </a:solidFill>
              </a:rPr>
              <a:t>96.6%</a:t>
            </a:r>
            <a:endParaRPr lang="en-US" sz="3200" dirty="0"/>
          </a:p>
        </p:txBody>
      </p:sp>
      <p:sp>
        <p:nvSpPr>
          <p:cNvPr id="9" name="Text 5"/>
          <p:cNvSpPr txBox="1"/>
          <p:nvPr/>
        </p:nvSpPr>
        <p:spPr>
          <a:xfrm>
            <a:off x="676656" y="4901184"/>
            <a:ext cx="1993392" cy="475488"/>
          </a:xfrm>
          <a:prstGeom prst="rect">
            <a:avLst/>
          </a:prstGeom>
          <a:noFill/>
          <a:ln/>
        </p:spPr>
        <p:txBody>
          <a:bodyPr wrap="square" lIns="0" tIns="0" rIns="0" bIns="0" rtlCol="0" anchor="t"/>
          <a:lstStyle/>
          <a:p>
            <a:pPr algn="ctr" indent="0" marL="0">
              <a:buNone/>
            </a:pPr>
            <a:r>
              <a:rPr lang="en-US" sz="1100" dirty="0">
                <a:solidFill>
                  <a:srgbClr val="5A6B7D"/>
                </a:solidFill>
              </a:rPr>
              <a:t>Accuracy</a:t>
            </a:r>
            <a:endParaRPr lang="en-US" sz="1100" dirty="0"/>
          </a:p>
        </p:txBody>
      </p:sp>
      <p:sp>
        <p:nvSpPr>
          <p:cNvPr id="10" name="stat-ROC-AUC"/>
          <p:cNvSpPr/>
          <p:nvPr/>
        </p:nvSpPr>
        <p:spPr>
          <a:xfrm>
            <a:off x="2889504" y="4114800"/>
            <a:ext cx="2212848" cy="1371600"/>
          </a:xfrm>
          <a:prstGeom prst="roundRect">
            <a:avLst>
              <a:gd name="adj" fmla="val 4667"/>
            </a:avLst>
          </a:prstGeom>
          <a:solidFill>
            <a:schemeClr val="bg2"/>
          </a:solidFill>
          <a:ln w="12700">
            <a:solidFill>
              <a:schemeClr val="bg2"/>
            </a:solidFill>
            <a:prstDash val="solid"/>
          </a:ln>
        </p:spPr>
      </p:sp>
      <p:sp>
        <p:nvSpPr>
          <p:cNvPr id="11" name="Text 7"/>
          <p:cNvSpPr txBox="1"/>
          <p:nvPr/>
        </p:nvSpPr>
        <p:spPr>
          <a:xfrm>
            <a:off x="2999232" y="4242816"/>
            <a:ext cx="1993392" cy="658368"/>
          </a:xfrm>
          <a:prstGeom prst="rect">
            <a:avLst/>
          </a:prstGeom>
          <a:noFill/>
          <a:ln/>
        </p:spPr>
        <p:txBody>
          <a:bodyPr wrap="square" lIns="0" tIns="0" rIns="0" bIns="0" rtlCol="0" anchor="ctr"/>
          <a:lstStyle/>
          <a:p>
            <a:pPr algn="ctr" indent="0" marL="0">
              <a:buNone/>
            </a:pPr>
            <a:r>
              <a:rPr lang="en-US" sz="3200" b="1" dirty="0">
                <a:solidFill>
                  <a:schemeClr val="accent3"/>
                </a:solidFill>
              </a:rPr>
              <a:t>0.995</a:t>
            </a:r>
            <a:endParaRPr lang="en-US" sz="3200" dirty="0"/>
          </a:p>
        </p:txBody>
      </p:sp>
      <p:sp>
        <p:nvSpPr>
          <p:cNvPr id="12" name="Text 8"/>
          <p:cNvSpPr txBox="1"/>
          <p:nvPr/>
        </p:nvSpPr>
        <p:spPr>
          <a:xfrm>
            <a:off x="2999232" y="4901184"/>
            <a:ext cx="1993392" cy="475488"/>
          </a:xfrm>
          <a:prstGeom prst="rect">
            <a:avLst/>
          </a:prstGeom>
          <a:noFill/>
          <a:ln/>
        </p:spPr>
        <p:txBody>
          <a:bodyPr wrap="square" lIns="0" tIns="0" rIns="0" bIns="0" rtlCol="0" anchor="t"/>
          <a:lstStyle/>
          <a:p>
            <a:pPr algn="ctr" indent="0" marL="0">
              <a:buNone/>
            </a:pPr>
            <a:r>
              <a:rPr lang="en-US" sz="1100" dirty="0">
                <a:solidFill>
                  <a:srgbClr val="5A6B7D"/>
                </a:solidFill>
              </a:rPr>
              <a:t>ROC-AUC</a:t>
            </a:r>
            <a:endParaRPr lang="en-US" sz="1100" dirty="0"/>
          </a:p>
        </p:txBody>
      </p:sp>
      <p:sp>
        <p:nvSpPr>
          <p:cNvPr id="13" name="stat-Base rate (c"/>
          <p:cNvSpPr/>
          <p:nvPr/>
        </p:nvSpPr>
        <p:spPr>
          <a:xfrm>
            <a:off x="5212080" y="4114800"/>
            <a:ext cx="2212848" cy="1371600"/>
          </a:xfrm>
          <a:prstGeom prst="roundRect">
            <a:avLst>
              <a:gd name="adj" fmla="val 4667"/>
            </a:avLst>
          </a:prstGeom>
          <a:solidFill>
            <a:schemeClr val="bg2"/>
          </a:solidFill>
          <a:ln w="12700">
            <a:solidFill>
              <a:schemeClr val="bg2"/>
            </a:solidFill>
            <a:prstDash val="solid"/>
          </a:ln>
        </p:spPr>
      </p:sp>
      <p:sp>
        <p:nvSpPr>
          <p:cNvPr id="14" name="Text 10"/>
          <p:cNvSpPr txBox="1"/>
          <p:nvPr/>
        </p:nvSpPr>
        <p:spPr>
          <a:xfrm>
            <a:off x="5321808" y="4242816"/>
            <a:ext cx="1993392" cy="658368"/>
          </a:xfrm>
          <a:prstGeom prst="rect">
            <a:avLst/>
          </a:prstGeom>
          <a:noFill/>
          <a:ln/>
        </p:spPr>
        <p:txBody>
          <a:bodyPr wrap="square" lIns="0" tIns="0" rIns="0" bIns="0" rtlCol="0" anchor="ctr"/>
          <a:lstStyle/>
          <a:p>
            <a:pPr algn="ctr" indent="0" marL="0">
              <a:buNone/>
            </a:pPr>
            <a:r>
              <a:rPr lang="en-US" sz="3200" b="1" dirty="0">
                <a:solidFill>
                  <a:schemeClr val="accent4"/>
                </a:solidFill>
              </a:rPr>
              <a:t>34%</a:t>
            </a:r>
            <a:endParaRPr lang="en-US" sz="3200" dirty="0"/>
          </a:p>
        </p:txBody>
      </p:sp>
      <p:sp>
        <p:nvSpPr>
          <p:cNvPr id="15" name="Text 11"/>
          <p:cNvSpPr txBox="1"/>
          <p:nvPr/>
        </p:nvSpPr>
        <p:spPr>
          <a:xfrm>
            <a:off x="5321808" y="4901184"/>
            <a:ext cx="1993392" cy="475488"/>
          </a:xfrm>
          <a:prstGeom prst="rect">
            <a:avLst/>
          </a:prstGeom>
          <a:noFill/>
          <a:ln/>
        </p:spPr>
        <p:txBody>
          <a:bodyPr wrap="square" lIns="0" tIns="0" rIns="0" bIns="0" rtlCol="0" anchor="t"/>
          <a:lstStyle/>
          <a:p>
            <a:pPr algn="ctr" indent="0" marL="0">
              <a:buNone/>
            </a:pPr>
            <a:r>
              <a:rPr lang="en-US" sz="1100" dirty="0">
                <a:solidFill>
                  <a:srgbClr val="5A6B7D"/>
                </a:solidFill>
              </a:rPr>
              <a:t>Base rate (class 1)</a:t>
            </a:r>
            <a:endParaRPr lang="en-US" sz="1100" dirty="0"/>
          </a:p>
        </p:txBody>
      </p:sp>
      <p:sp>
        <p:nvSpPr>
          <p:cNvPr id="16"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7"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High-resilience status is near-perfectly separable from fundamentals: AUC 0.995 against a 34% base rate.</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Decision tree classifier</a:t>
            </a:r>
            <a:endParaRPr lang="en-US" sz="3000" dirty="0"/>
          </a:p>
        </p:txBody>
      </p:sp>
      <p:pic>
        <p:nvPicPr>
          <p:cNvPr id="3" name="Image 0" descr="figures/fig07_tree.png">    </p:cNvPr>
          <p:cNvPicPr>
            <a:picLocks noChangeAspect="1"/>
          </p:cNvPicPr>
          <p:nvPr/>
        </p:nvPicPr>
        <p:blipFill>
          <a:blip r:embed="rId1"/>
          <a:stretch>
            <a:fillRect/>
          </a:stretch>
        </p:blipFill>
        <p:spPr>
          <a:xfrm>
            <a:off x="1138169" y="1097280"/>
            <a:ext cx="7087117" cy="4526280"/>
          </a:xfrm>
          <a:prstGeom prst="rect">
            <a:avLst/>
          </a:prstGeom>
        </p:spPr>
      </p:pic>
      <p:sp>
        <p:nvSpPr>
          <p:cNvPr id="4" name="stat-Hold-out acc"/>
          <p:cNvSpPr/>
          <p:nvPr/>
        </p:nvSpPr>
        <p:spPr>
          <a:xfrm>
            <a:off x="9034272" y="1152144"/>
            <a:ext cx="2596896" cy="1371600"/>
          </a:xfrm>
          <a:prstGeom prst="roundRect">
            <a:avLst>
              <a:gd name="adj" fmla="val 4667"/>
            </a:avLst>
          </a:prstGeom>
          <a:solidFill>
            <a:schemeClr val="bg2"/>
          </a:solidFill>
          <a:ln w="12700">
            <a:solidFill>
              <a:schemeClr val="bg2"/>
            </a:solidFill>
            <a:prstDash val="solid"/>
          </a:ln>
        </p:spPr>
      </p:sp>
      <p:sp>
        <p:nvSpPr>
          <p:cNvPr id="5" name="Text 2"/>
          <p:cNvSpPr txBox="1"/>
          <p:nvPr/>
        </p:nvSpPr>
        <p:spPr>
          <a:xfrm>
            <a:off x="9144000" y="1280160"/>
            <a:ext cx="2377440" cy="658368"/>
          </a:xfrm>
          <a:prstGeom prst="rect">
            <a:avLst/>
          </a:prstGeom>
          <a:noFill/>
          <a:ln/>
        </p:spPr>
        <p:txBody>
          <a:bodyPr wrap="square" lIns="0" tIns="0" rIns="0" bIns="0" rtlCol="0" anchor="ctr"/>
          <a:lstStyle/>
          <a:p>
            <a:pPr algn="ctr" indent="0" marL="0">
              <a:buNone/>
            </a:pPr>
            <a:r>
              <a:rPr lang="en-US" sz="3200" b="1" dirty="0">
                <a:solidFill>
                  <a:schemeClr val="accent1"/>
                </a:solidFill>
              </a:rPr>
              <a:t>93.0%</a:t>
            </a:r>
            <a:endParaRPr lang="en-US" sz="3200" dirty="0"/>
          </a:p>
        </p:txBody>
      </p:sp>
      <p:sp>
        <p:nvSpPr>
          <p:cNvPr id="6" name="Text 3"/>
          <p:cNvSpPr txBox="1"/>
          <p:nvPr/>
        </p:nvSpPr>
        <p:spPr>
          <a:xfrm>
            <a:off x="9144000" y="1938528"/>
            <a:ext cx="2377440" cy="475488"/>
          </a:xfrm>
          <a:prstGeom prst="rect">
            <a:avLst/>
          </a:prstGeom>
          <a:noFill/>
          <a:ln/>
        </p:spPr>
        <p:txBody>
          <a:bodyPr wrap="square" lIns="0" tIns="0" rIns="0" bIns="0" rtlCol="0" anchor="t"/>
          <a:lstStyle/>
          <a:p>
            <a:pPr algn="ctr" indent="0" marL="0">
              <a:buNone/>
            </a:pPr>
            <a:r>
              <a:rPr lang="en-US" sz="1100" dirty="0">
                <a:solidFill>
                  <a:srgbClr val="5A6B7D"/>
                </a:solidFill>
              </a:rPr>
              <a:t>Hold-out accuracy</a:t>
            </a:r>
            <a:endParaRPr lang="en-US" sz="1100" dirty="0"/>
          </a:p>
        </p:txBody>
      </p:sp>
      <p:sp>
        <p:nvSpPr>
          <p:cNvPr id="7" name="stat-ROC-AUC"/>
          <p:cNvSpPr/>
          <p:nvPr/>
        </p:nvSpPr>
        <p:spPr>
          <a:xfrm>
            <a:off x="9034272" y="2651760"/>
            <a:ext cx="2596896" cy="1371600"/>
          </a:xfrm>
          <a:prstGeom prst="roundRect">
            <a:avLst>
              <a:gd name="adj" fmla="val 4667"/>
            </a:avLst>
          </a:prstGeom>
          <a:solidFill>
            <a:schemeClr val="bg2"/>
          </a:solidFill>
          <a:ln w="12700">
            <a:solidFill>
              <a:schemeClr val="bg2"/>
            </a:solidFill>
            <a:prstDash val="solid"/>
          </a:ln>
        </p:spPr>
      </p:sp>
      <p:sp>
        <p:nvSpPr>
          <p:cNvPr id="8" name="Text 5"/>
          <p:cNvSpPr txBox="1"/>
          <p:nvPr/>
        </p:nvSpPr>
        <p:spPr>
          <a:xfrm>
            <a:off x="9144000" y="2779776"/>
            <a:ext cx="2377440" cy="658368"/>
          </a:xfrm>
          <a:prstGeom prst="rect">
            <a:avLst/>
          </a:prstGeom>
          <a:noFill/>
          <a:ln/>
        </p:spPr>
        <p:txBody>
          <a:bodyPr wrap="square" lIns="0" tIns="0" rIns="0" bIns="0" rtlCol="0" anchor="ctr"/>
          <a:lstStyle/>
          <a:p>
            <a:pPr algn="ctr" indent="0" marL="0">
              <a:buNone/>
            </a:pPr>
            <a:r>
              <a:rPr lang="en-US" sz="3200" b="1" dirty="0">
                <a:solidFill>
                  <a:schemeClr val="accent3"/>
                </a:solidFill>
              </a:rPr>
              <a:t>0.970</a:t>
            </a:r>
            <a:endParaRPr lang="en-US" sz="3200" dirty="0"/>
          </a:p>
        </p:txBody>
      </p:sp>
      <p:sp>
        <p:nvSpPr>
          <p:cNvPr id="9" name="Text 6"/>
          <p:cNvSpPr txBox="1"/>
          <p:nvPr/>
        </p:nvSpPr>
        <p:spPr>
          <a:xfrm>
            <a:off x="9144000" y="3438144"/>
            <a:ext cx="2377440" cy="475488"/>
          </a:xfrm>
          <a:prstGeom prst="rect">
            <a:avLst/>
          </a:prstGeom>
          <a:noFill/>
          <a:ln/>
        </p:spPr>
        <p:txBody>
          <a:bodyPr wrap="square" lIns="0" tIns="0" rIns="0" bIns="0" rtlCol="0" anchor="t"/>
          <a:lstStyle/>
          <a:p>
            <a:pPr algn="ctr" indent="0" marL="0">
              <a:buNone/>
            </a:pPr>
            <a:r>
              <a:rPr lang="en-US" sz="1100" dirty="0">
                <a:solidFill>
                  <a:srgbClr val="5A6B7D"/>
                </a:solidFill>
              </a:rPr>
              <a:t>ROC-AUC</a:t>
            </a:r>
            <a:endParaRPr lang="en-US" sz="1100" dirty="0"/>
          </a:p>
        </p:txBody>
      </p:sp>
      <p:sp>
        <p:nvSpPr>
          <p:cNvPr id="10" name="Text 7"/>
          <p:cNvSpPr txBox="1"/>
          <p:nvPr/>
        </p:nvSpPr>
        <p:spPr>
          <a:xfrm>
            <a:off x="9034272" y="4169664"/>
            <a:ext cx="2596896" cy="274320"/>
          </a:xfrm>
          <a:prstGeom prst="rect">
            <a:avLst/>
          </a:prstGeom>
          <a:noFill/>
          <a:ln/>
        </p:spPr>
        <p:txBody>
          <a:bodyPr wrap="square" lIns="0" tIns="0" rIns="0" bIns="0" rtlCol="0" anchor="ctr"/>
          <a:lstStyle/>
          <a:p>
            <a:pPr indent="0" marL="0">
              <a:buNone/>
            </a:pPr>
            <a:r>
              <a:rPr lang="en-US" sz="1200" b="1" dirty="0">
                <a:solidFill>
                  <a:schemeClr val="tx1"/>
                </a:solidFill>
              </a:rPr>
              <a:t>Pruned to depth 5</a:t>
            </a:r>
            <a:endParaRPr lang="en-US" sz="1200" dirty="0"/>
          </a:p>
        </p:txBody>
      </p:sp>
      <p:sp>
        <p:nvSpPr>
          <p:cNvPr id="11" name="Text 8"/>
          <p:cNvSpPr txBox="1"/>
          <p:nvPr/>
        </p:nvSpPr>
        <p:spPr>
          <a:xfrm>
            <a:off x="9034272" y="4462272"/>
            <a:ext cx="2596896" cy="1097280"/>
          </a:xfrm>
          <a:prstGeom prst="rect">
            <a:avLst/>
          </a:prstGeom>
          <a:noFill/>
          <a:ln/>
        </p:spPr>
        <p:txBody>
          <a:bodyPr wrap="square" lIns="0" tIns="0" rIns="0" bIns="0" rtlCol="0" anchor="ctr"/>
          <a:lstStyle/>
          <a:p>
            <a:pPr indent="0" marL="0">
              <a:lnSpc>
                <a:spcPct val="110000"/>
              </a:lnSpc>
              <a:buNone/>
            </a:pPr>
            <a:r>
              <a:rPr lang="en-US" sz="1100" dirty="0">
                <a:solidFill>
                  <a:srgbClr val="3D4B5C"/>
                </a:solidFill>
              </a:rPr>
              <a:t>Hold-out accuracy plateaus beyond depth 5 while training accuracy keeps climbing — the textbook overfitting signature, and the reason for pruning.</a:t>
            </a:r>
            <a:endParaRPr lang="en-US" sz="1100" dirty="0"/>
          </a:p>
        </p:txBody>
      </p:sp>
      <p:sp>
        <p:nvSpPr>
          <p:cNvPr id="12"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3"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The tree splits first on growth, then on debt, then on inflation — three features carry 99.5% of all splitting power.</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Feature-selection consensus across three model families</a:t>
            </a:r>
            <a:endParaRPr lang="en-US" sz="3000" dirty="0"/>
          </a:p>
        </p:txBody>
      </p:sp>
      <p:pic>
        <p:nvPicPr>
          <p:cNvPr id="3" name="Image 0" descr="figures/fig08_consensus.png">    </p:cNvPr>
          <p:cNvPicPr>
            <a:picLocks noChangeAspect="1"/>
          </p:cNvPicPr>
          <p:nvPr/>
        </p:nvPicPr>
        <p:blipFill>
          <a:blip r:embed="rId1"/>
          <a:stretch>
            <a:fillRect/>
          </a:stretch>
        </p:blipFill>
        <p:spPr>
          <a:xfrm>
            <a:off x="566928" y="1294034"/>
            <a:ext cx="5943600" cy="3648141"/>
          </a:xfrm>
          <a:prstGeom prst="rect">
            <a:avLst/>
          </a:prstGeom>
        </p:spPr>
      </p:pic>
      <p:sp>
        <p:nvSpPr>
          <p:cNvPr id="4" name="Text 1"/>
          <p:cNvSpPr txBox="1"/>
          <p:nvPr/>
        </p:nvSpPr>
        <p:spPr>
          <a:xfrm>
            <a:off x="6766560" y="1188720"/>
            <a:ext cx="4864608" cy="329184"/>
          </a:xfrm>
          <a:prstGeom prst="rect">
            <a:avLst/>
          </a:prstGeom>
          <a:noFill/>
          <a:ln/>
        </p:spPr>
        <p:txBody>
          <a:bodyPr wrap="square" lIns="0" tIns="0" rIns="0" bIns="0" rtlCol="0" anchor="ctr"/>
          <a:lstStyle/>
          <a:p>
            <a:pPr indent="0" marL="0">
              <a:buNone/>
            </a:pPr>
            <a:r>
              <a:rPr lang="en-US" sz="1500" b="1" dirty="0">
                <a:solidFill>
                  <a:schemeClr val="tx1"/>
                </a:solidFill>
              </a:rPr>
              <a:t>Three methods, one answer</a:t>
            </a:r>
            <a:endParaRPr lang="en-US" sz="1500" dirty="0"/>
          </a:p>
        </p:txBody>
      </p:sp>
      <p:sp>
        <p:nvSpPr>
          <p:cNvPr id="5" name="rank-1"/>
          <p:cNvSpPr/>
          <p:nvPr/>
        </p:nvSpPr>
        <p:spPr>
          <a:xfrm>
            <a:off x="6766560" y="1627632"/>
            <a:ext cx="4864608" cy="548640"/>
          </a:xfrm>
          <a:prstGeom prst="roundRect">
            <a:avLst>
              <a:gd name="adj" fmla="val 10000"/>
            </a:avLst>
          </a:prstGeom>
          <a:solidFill>
            <a:schemeClr val="bg2"/>
          </a:solidFill>
          <a:ln w="12700">
            <a:solidFill>
              <a:schemeClr val="bg2"/>
            </a:solidFill>
            <a:prstDash val="solid"/>
          </a:ln>
        </p:spPr>
      </p:sp>
      <p:sp>
        <p:nvSpPr>
          <p:cNvPr id="6" name="rank-dot-1"/>
          <p:cNvSpPr/>
          <p:nvPr/>
        </p:nvSpPr>
        <p:spPr>
          <a:xfrm>
            <a:off x="6912864" y="1728216"/>
            <a:ext cx="347472" cy="347472"/>
          </a:xfrm>
          <a:prstGeom prst="ellipse">
            <a:avLst/>
          </a:prstGeom>
          <a:solidFill>
            <a:schemeClr val="accent1"/>
          </a:solidFill>
          <a:ln w="12700">
            <a:solidFill>
              <a:schemeClr val="accent1"/>
            </a:solidFill>
            <a:prstDash val="solid"/>
          </a:ln>
        </p:spPr>
      </p:sp>
      <p:sp>
        <p:nvSpPr>
          <p:cNvPr id="7" name="Text 4"/>
          <p:cNvSpPr txBox="1"/>
          <p:nvPr/>
        </p:nvSpPr>
        <p:spPr>
          <a:xfrm>
            <a:off x="6912864" y="17282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8" name="Text 5"/>
          <p:cNvSpPr txBox="1"/>
          <p:nvPr/>
        </p:nvSpPr>
        <p:spPr>
          <a:xfrm>
            <a:off x="7388352" y="1627632"/>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Real GDP growth</a:t>
            </a:r>
            <a:endParaRPr lang="en-US" sz="1300" dirty="0"/>
          </a:p>
        </p:txBody>
      </p:sp>
      <p:sp>
        <p:nvSpPr>
          <p:cNvPr id="9" name="Text 6"/>
          <p:cNvSpPr txBox="1"/>
          <p:nvPr/>
        </p:nvSpPr>
        <p:spPr>
          <a:xfrm>
            <a:off x="10241280" y="1627632"/>
            <a:ext cx="1234440" cy="548640"/>
          </a:xfrm>
          <a:prstGeom prst="rect">
            <a:avLst/>
          </a:prstGeom>
          <a:noFill/>
          <a:ln/>
        </p:spPr>
        <p:txBody>
          <a:bodyPr wrap="square" lIns="0" tIns="0" rIns="0" bIns="0" rtlCol="0" anchor="ctr"/>
          <a:lstStyle/>
          <a:p>
            <a:pPr algn="r" indent="0" marL="0">
              <a:buNone/>
            </a:pPr>
            <a:r>
              <a:rPr lang="en-US" sz="1300" b="1" dirty="0">
                <a:solidFill>
                  <a:schemeClr val="accent1"/>
                </a:solidFill>
              </a:rPr>
              <a:t>1.00</a:t>
            </a:r>
            <a:endParaRPr lang="en-US" sz="1300" dirty="0"/>
          </a:p>
        </p:txBody>
      </p:sp>
      <p:sp>
        <p:nvSpPr>
          <p:cNvPr id="10" name="rank-2"/>
          <p:cNvSpPr/>
          <p:nvPr/>
        </p:nvSpPr>
        <p:spPr>
          <a:xfrm>
            <a:off x="6766560" y="2286000"/>
            <a:ext cx="4864608" cy="548640"/>
          </a:xfrm>
          <a:prstGeom prst="roundRect">
            <a:avLst>
              <a:gd name="adj" fmla="val 10000"/>
            </a:avLst>
          </a:prstGeom>
          <a:solidFill>
            <a:schemeClr val="bg2"/>
          </a:solidFill>
          <a:ln w="12700">
            <a:solidFill>
              <a:schemeClr val="bg2"/>
            </a:solidFill>
            <a:prstDash val="solid"/>
          </a:ln>
        </p:spPr>
      </p:sp>
      <p:sp>
        <p:nvSpPr>
          <p:cNvPr id="11" name="rank-dot-2"/>
          <p:cNvSpPr/>
          <p:nvPr/>
        </p:nvSpPr>
        <p:spPr>
          <a:xfrm>
            <a:off x="6912864" y="2386584"/>
            <a:ext cx="347472" cy="347472"/>
          </a:xfrm>
          <a:prstGeom prst="ellipse">
            <a:avLst/>
          </a:prstGeom>
          <a:solidFill>
            <a:schemeClr val="accent1"/>
          </a:solidFill>
          <a:ln w="12700">
            <a:solidFill>
              <a:schemeClr val="accent1"/>
            </a:solidFill>
            <a:prstDash val="solid"/>
          </a:ln>
        </p:spPr>
      </p:sp>
      <p:sp>
        <p:nvSpPr>
          <p:cNvPr id="12" name="Text 9"/>
          <p:cNvSpPr txBox="1"/>
          <p:nvPr/>
        </p:nvSpPr>
        <p:spPr>
          <a:xfrm>
            <a:off x="6912864" y="238658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3" name="Text 10"/>
          <p:cNvSpPr txBox="1"/>
          <p:nvPr/>
        </p:nvSpPr>
        <p:spPr>
          <a:xfrm>
            <a:off x="7388352" y="228600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Govt gross debt</a:t>
            </a:r>
            <a:endParaRPr lang="en-US" sz="1300" dirty="0"/>
          </a:p>
        </p:txBody>
      </p:sp>
      <p:sp>
        <p:nvSpPr>
          <p:cNvPr id="14" name="Text 11"/>
          <p:cNvSpPr txBox="1"/>
          <p:nvPr/>
        </p:nvSpPr>
        <p:spPr>
          <a:xfrm>
            <a:off x="10241280" y="2286000"/>
            <a:ext cx="1234440" cy="548640"/>
          </a:xfrm>
          <a:prstGeom prst="rect">
            <a:avLst/>
          </a:prstGeom>
          <a:noFill/>
          <a:ln/>
        </p:spPr>
        <p:txBody>
          <a:bodyPr wrap="square" lIns="0" tIns="0" rIns="0" bIns="0" rtlCol="0" anchor="ctr"/>
          <a:lstStyle/>
          <a:p>
            <a:pPr algn="r" indent="0" marL="0">
              <a:buNone/>
            </a:pPr>
            <a:r>
              <a:rPr lang="en-US" sz="1300" b="1" dirty="0">
                <a:solidFill>
                  <a:schemeClr val="accent1"/>
                </a:solidFill>
              </a:rPr>
              <a:t>0.72</a:t>
            </a:r>
            <a:endParaRPr lang="en-US" sz="1300" dirty="0"/>
          </a:p>
        </p:txBody>
      </p:sp>
      <p:sp>
        <p:nvSpPr>
          <p:cNvPr id="15" name="rank-3"/>
          <p:cNvSpPr/>
          <p:nvPr/>
        </p:nvSpPr>
        <p:spPr>
          <a:xfrm>
            <a:off x="6766560" y="2944368"/>
            <a:ext cx="4864608" cy="548640"/>
          </a:xfrm>
          <a:prstGeom prst="roundRect">
            <a:avLst>
              <a:gd name="adj" fmla="val 10000"/>
            </a:avLst>
          </a:prstGeom>
          <a:solidFill>
            <a:schemeClr val="bg2"/>
          </a:solidFill>
          <a:ln w="12700">
            <a:solidFill>
              <a:schemeClr val="bg2"/>
            </a:solidFill>
            <a:prstDash val="solid"/>
          </a:ln>
        </p:spPr>
      </p:sp>
      <p:sp>
        <p:nvSpPr>
          <p:cNvPr id="16" name="rank-dot-3"/>
          <p:cNvSpPr/>
          <p:nvPr/>
        </p:nvSpPr>
        <p:spPr>
          <a:xfrm>
            <a:off x="6912864" y="3044952"/>
            <a:ext cx="347472" cy="347472"/>
          </a:xfrm>
          <a:prstGeom prst="ellipse">
            <a:avLst/>
          </a:prstGeom>
          <a:solidFill>
            <a:schemeClr val="accent1"/>
          </a:solidFill>
          <a:ln w="12700">
            <a:solidFill>
              <a:schemeClr val="accent1"/>
            </a:solidFill>
            <a:prstDash val="solid"/>
          </a:ln>
        </p:spPr>
      </p:sp>
      <p:sp>
        <p:nvSpPr>
          <p:cNvPr id="17" name="Text 14"/>
          <p:cNvSpPr txBox="1"/>
          <p:nvPr/>
        </p:nvSpPr>
        <p:spPr>
          <a:xfrm>
            <a:off x="6912864" y="3044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8" name="Text 15"/>
          <p:cNvSpPr txBox="1"/>
          <p:nvPr/>
        </p:nvSpPr>
        <p:spPr>
          <a:xfrm>
            <a:off x="7388352" y="2944368"/>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CPI inflation</a:t>
            </a:r>
            <a:endParaRPr lang="en-US" sz="1300" dirty="0"/>
          </a:p>
        </p:txBody>
      </p:sp>
      <p:sp>
        <p:nvSpPr>
          <p:cNvPr id="19" name="Text 16"/>
          <p:cNvSpPr txBox="1"/>
          <p:nvPr/>
        </p:nvSpPr>
        <p:spPr>
          <a:xfrm>
            <a:off x="10241280" y="2944368"/>
            <a:ext cx="1234440" cy="548640"/>
          </a:xfrm>
          <a:prstGeom prst="rect">
            <a:avLst/>
          </a:prstGeom>
          <a:noFill/>
          <a:ln/>
        </p:spPr>
        <p:txBody>
          <a:bodyPr wrap="square" lIns="0" tIns="0" rIns="0" bIns="0" rtlCol="0" anchor="ctr"/>
          <a:lstStyle/>
          <a:p>
            <a:pPr algn="r" indent="0" marL="0">
              <a:buNone/>
            </a:pPr>
            <a:r>
              <a:rPr lang="en-US" sz="1300" b="1" dirty="0">
                <a:solidFill>
                  <a:schemeClr val="accent1"/>
                </a:solidFill>
              </a:rPr>
              <a:t>0.54</a:t>
            </a:r>
            <a:endParaRPr lang="en-US" sz="1300" dirty="0"/>
          </a:p>
        </p:txBody>
      </p:sp>
      <p:sp>
        <p:nvSpPr>
          <p:cNvPr id="20" name="rank-4"/>
          <p:cNvSpPr/>
          <p:nvPr/>
        </p:nvSpPr>
        <p:spPr>
          <a:xfrm>
            <a:off x="6766560" y="3602736"/>
            <a:ext cx="4864608" cy="548640"/>
          </a:xfrm>
          <a:prstGeom prst="roundRect">
            <a:avLst>
              <a:gd name="adj" fmla="val 10000"/>
            </a:avLst>
          </a:prstGeom>
          <a:solidFill>
            <a:schemeClr val="bg2"/>
          </a:solidFill>
          <a:ln w="12700">
            <a:solidFill>
              <a:schemeClr val="bg2"/>
            </a:solidFill>
            <a:prstDash val="solid"/>
          </a:ln>
        </p:spPr>
      </p:sp>
      <p:sp>
        <p:nvSpPr>
          <p:cNvPr id="21" name="rank-dot-4"/>
          <p:cNvSpPr/>
          <p:nvPr/>
        </p:nvSpPr>
        <p:spPr>
          <a:xfrm>
            <a:off x="6912864" y="3703320"/>
            <a:ext cx="347472" cy="347472"/>
          </a:xfrm>
          <a:prstGeom prst="ellipse">
            <a:avLst/>
          </a:prstGeom>
          <a:solidFill>
            <a:srgbClr val="9AA7B6"/>
          </a:solidFill>
          <a:ln w="12700">
            <a:solidFill>
              <a:srgbClr val="9AA7B6"/>
            </a:solidFill>
            <a:prstDash val="solid"/>
          </a:ln>
        </p:spPr>
      </p:sp>
      <p:sp>
        <p:nvSpPr>
          <p:cNvPr id="22" name="Text 19"/>
          <p:cNvSpPr txBox="1"/>
          <p:nvPr/>
        </p:nvSpPr>
        <p:spPr>
          <a:xfrm>
            <a:off x="6912864" y="3703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3" name="Text 20"/>
          <p:cNvSpPr txBox="1"/>
          <p:nvPr/>
        </p:nvSpPr>
        <p:spPr>
          <a:xfrm>
            <a:off x="7388352" y="3602736"/>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Everything else</a:t>
            </a:r>
            <a:endParaRPr lang="en-US" sz="1300" dirty="0"/>
          </a:p>
        </p:txBody>
      </p:sp>
      <p:sp>
        <p:nvSpPr>
          <p:cNvPr id="24" name="Text 21"/>
          <p:cNvSpPr txBox="1"/>
          <p:nvPr/>
        </p:nvSpPr>
        <p:spPr>
          <a:xfrm>
            <a:off x="10241280" y="3602736"/>
            <a:ext cx="1234440" cy="548640"/>
          </a:xfrm>
          <a:prstGeom prst="rect">
            <a:avLst/>
          </a:prstGeom>
          <a:noFill/>
          <a:ln/>
        </p:spPr>
        <p:txBody>
          <a:bodyPr wrap="square" lIns="0" tIns="0" rIns="0" bIns="0" rtlCol="0" anchor="ctr"/>
          <a:lstStyle/>
          <a:p>
            <a:pPr algn="r" indent="0" marL="0">
              <a:buNone/>
            </a:pPr>
            <a:r>
              <a:rPr lang="en-US" sz="1300" b="1" dirty="0">
                <a:solidFill>
                  <a:srgbClr val="9AA7B6"/>
                </a:solidFill>
              </a:rPr>
              <a:t>&lt; 0.04</a:t>
            </a:r>
            <a:endParaRPr lang="en-US" sz="1300" dirty="0"/>
          </a:p>
        </p:txBody>
      </p:sp>
      <p:sp>
        <p:nvSpPr>
          <p:cNvPr id="25" name="Text 22"/>
          <p:cNvSpPr txBox="1"/>
          <p:nvPr/>
        </p:nvSpPr>
        <p:spPr>
          <a:xfrm>
            <a:off x="6766560" y="4297680"/>
            <a:ext cx="4864608" cy="822960"/>
          </a:xfrm>
          <a:prstGeom prst="rect">
            <a:avLst/>
          </a:prstGeom>
          <a:noFill/>
          <a:ln/>
        </p:spPr>
        <p:txBody>
          <a:bodyPr wrap="square" lIns="0" tIns="0" rIns="0" bIns="0" rtlCol="0" anchor="ctr"/>
          <a:lstStyle/>
          <a:p>
            <a:pPr indent="0" marL="0">
              <a:lnSpc>
                <a:spcPct val="110000"/>
              </a:lnSpc>
              <a:buNone/>
            </a:pPr>
            <a:r>
              <a:rPr lang="en-US" sz="1100" i="1" dirty="0">
                <a:solidFill>
                  <a:srgbClr val="5A6B7D"/>
                </a:solidFill>
              </a:rPr>
              <a:t>Normalised consensus score — the mean of standardised OLS |β|, logistic |coefficient| and Gini importance, each scaled so the leader equals 1.00.</a:t>
            </a:r>
            <a:endParaRPr lang="en-US" sz="1100" dirty="0"/>
          </a:p>
        </p:txBody>
      </p:sp>
      <p:sp>
        <p:nvSpPr>
          <p:cNvPr id="26"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27"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A parametric linear model, a parametric non-linear model and a non-parametric model independently rank the same three features 1-2-3.</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India's nominal GDP — structure and method validation</a:t>
            </a:r>
            <a:endParaRPr lang="en-US" sz="3000" dirty="0"/>
          </a:p>
        </p:txBody>
      </p:sp>
      <p:pic>
        <p:nvPicPr>
          <p:cNvPr id="3" name="Image 0" descr="figures/fig09_series.png">    </p:cNvPr>
          <p:cNvPicPr>
            <a:picLocks noChangeAspect="1"/>
          </p:cNvPicPr>
          <p:nvPr/>
        </p:nvPicPr>
        <p:blipFill>
          <a:blip r:embed="rId1"/>
          <a:stretch>
            <a:fillRect/>
          </a:stretch>
        </p:blipFill>
        <p:spPr>
          <a:xfrm>
            <a:off x="2801847" y="1097280"/>
            <a:ext cx="6594403" cy="1828800"/>
          </a:xfrm>
          <a:prstGeom prst="rect">
            <a:avLst/>
          </a:prstGeom>
        </p:spPr>
      </p:pic>
      <p:pic>
        <p:nvPicPr>
          <p:cNvPr id="4" name="Image 1" descr="figures/fig10_validation.png">    </p:cNvPr>
          <p:cNvPicPr>
            <a:picLocks noChangeAspect="1"/>
          </p:cNvPicPr>
          <p:nvPr/>
        </p:nvPicPr>
        <p:blipFill>
          <a:blip r:embed="rId2"/>
          <a:stretch>
            <a:fillRect/>
          </a:stretch>
        </p:blipFill>
        <p:spPr>
          <a:xfrm>
            <a:off x="678715" y="3017520"/>
            <a:ext cx="7365946" cy="2606040"/>
          </a:xfrm>
          <a:prstGeom prst="rect">
            <a:avLst/>
          </a:prstGeom>
        </p:spPr>
      </p:pic>
      <p:sp>
        <p:nvSpPr>
          <p:cNvPr id="5" name="Text 1"/>
          <p:cNvSpPr txBox="1"/>
          <p:nvPr/>
        </p:nvSpPr>
        <p:spPr>
          <a:xfrm>
            <a:off x="8366760" y="3017520"/>
            <a:ext cx="3264408" cy="292608"/>
          </a:xfrm>
          <a:prstGeom prst="rect">
            <a:avLst/>
          </a:prstGeom>
          <a:noFill/>
          <a:ln/>
        </p:spPr>
        <p:txBody>
          <a:bodyPr wrap="square" lIns="0" tIns="0" rIns="0" bIns="0" rtlCol="0" anchor="ctr"/>
          <a:lstStyle/>
          <a:p>
            <a:pPr indent="0" marL="0">
              <a:buNone/>
            </a:pPr>
            <a:r>
              <a:rPr lang="en-US" sz="1350" b="1" dirty="0">
                <a:solidFill>
                  <a:schemeClr val="tx1"/>
                </a:solidFill>
              </a:rPr>
              <a:t>Validation, 2023–2025</a:t>
            </a:r>
            <a:endParaRPr lang="en-US" sz="1350" dirty="0"/>
          </a:p>
        </p:txBody>
      </p:sp>
      <p:graphicFrame>
        <p:nvGraphicFramePr>
          <p:cNvPr id="13" name="mape-table"/>
          <p:cNvGraphicFramePr>
            <a:graphicFrameLocks noGrp="1"/>
          </p:cNvGraphicFramePr>
          <p:nvPr>
            <p:extLst>
              <p:ext uri="{D42A27DB-BD31-4B8C-83A1-F6EECF244321}">
                <p14:modId xmlns:p14="http://schemas.microsoft.com/office/powerpoint/2010/main" val="1579011935"/>
              </p:ext>
            </p:extLst>
          </p:nvPr>
        </p:nvGraphicFramePr>
        <p:xfrm>
          <a:off x="8366760" y="3364992"/>
          <a:ext cx="3264408" cy="914400"/>
        </p:xfrm>
        <a:graphic>
          <a:graphicData uri="http://schemas.openxmlformats.org/drawingml/2006/table">
            <a:tbl>
              <a:tblPr/>
              <a:tblGrid>
                <a:gridCol w="2212848"/>
                <a:gridCol w="1051560"/>
              </a:tblGrid>
              <a:tr h="301752">
                <a:tc>
                  <a:txBody>
                    <a:bodyPr/>
                    <a:lstStyle/>
                    <a:p>
                      <a:pPr indent="0" marL="0">
                        <a:buNone/>
                      </a:pPr>
                      <a:r>
                        <a:rPr lang="en-US" sz="1050" b="1" dirty="0">
                          <a:solidFill>
                            <a:schemeClr val="tx1"/>
                          </a:solidFill>
                        </a:rPr>
                        <a:t>Method</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MAPE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4213D"/>
                          </a:solidFill>
                        </a:rPr>
                        <a:t>Moving average (k=3)</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4213D"/>
                          </a:solidFill>
                        </a:rPr>
                        <a:t>19.79%</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4213D"/>
                          </a:solidFill>
                        </a:rPr>
                        <a:t>Single exp. smoothing</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4213D"/>
                          </a:solidFill>
                        </a:rPr>
                        <a:t>12.59%</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4213D"/>
                          </a:solidFill>
                        </a:rPr>
                        <a:t>Holt — additive trend</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14213D"/>
                          </a:solidFill>
                        </a:rPr>
                        <a:t>7.62%</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rgbClr val="3D8361"/>
                          </a:solidFill>
                        </a:rPr>
                        <a:t>Holt — mult. trend</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rgbClr val="3D8361"/>
                          </a:solidFill>
                        </a:rPr>
                        <a:t>5.34%</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Text 2"/>
          <p:cNvSpPr txBox="1"/>
          <p:nvPr/>
        </p:nvSpPr>
        <p:spPr>
          <a:xfrm>
            <a:off x="8366760" y="5029200"/>
            <a:ext cx="3264408" cy="594360"/>
          </a:xfrm>
          <a:prstGeom prst="rect">
            <a:avLst/>
          </a:prstGeom>
          <a:noFill/>
          <a:ln/>
        </p:spPr>
        <p:txBody>
          <a:bodyPr wrap="square" lIns="0" tIns="0" rIns="0" bIns="0" rtlCol="0" anchor="ctr"/>
          <a:lstStyle/>
          <a:p>
            <a:pPr indent="0" marL="0">
              <a:lnSpc>
                <a:spcPct val="110000"/>
              </a:lnSpc>
              <a:buNone/>
            </a:pPr>
            <a:r>
              <a:rPr lang="en-US" sz="1100" dirty="0">
                <a:solidFill>
                  <a:srgbClr val="3D4B5C"/>
                </a:solidFill>
              </a:rPr>
              <a:t>Level-only methods are structurally biased against a trending series: their forecast function is a flat line.</a:t>
            </a:r>
            <a:endParaRPr lang="en-US" sz="1100" dirty="0"/>
          </a:p>
        </p:txBody>
      </p:sp>
      <p:sp>
        <p:nvSpPr>
          <p:cNvPr id="8"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9"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Adding a trend component cuts forecast error by 62%; a multiplicative trend cuts it by 73%.</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Forecast to 2030 versus the IMF staff projection</a:t>
            </a:r>
            <a:endParaRPr lang="en-US" sz="3000" dirty="0"/>
          </a:p>
        </p:txBody>
      </p:sp>
      <p:pic>
        <p:nvPicPr>
          <p:cNvPr id="3" name="Image 0" descr="figures/fig11_forecast.png">    </p:cNvPr>
          <p:cNvPicPr>
            <a:picLocks noChangeAspect="1"/>
          </p:cNvPicPr>
          <p:nvPr/>
        </p:nvPicPr>
        <p:blipFill>
          <a:blip r:embed="rId1"/>
          <a:stretch>
            <a:fillRect/>
          </a:stretch>
        </p:blipFill>
        <p:spPr>
          <a:xfrm>
            <a:off x="566928" y="1186885"/>
            <a:ext cx="7406640" cy="3716134"/>
          </a:xfrm>
          <a:prstGeom prst="rect">
            <a:avLst/>
          </a:prstGeom>
        </p:spPr>
      </p:pic>
      <p:sp>
        <p:nvSpPr>
          <p:cNvPr id="4" name="Text 1"/>
          <p:cNvSpPr txBox="1"/>
          <p:nvPr/>
        </p:nvSpPr>
        <p:spPr>
          <a:xfrm>
            <a:off x="8183880" y="1115568"/>
            <a:ext cx="3447288" cy="292608"/>
          </a:xfrm>
          <a:prstGeom prst="rect">
            <a:avLst/>
          </a:prstGeom>
          <a:noFill/>
          <a:ln/>
        </p:spPr>
        <p:txBody>
          <a:bodyPr wrap="square" lIns="0" tIns="0" rIns="0" bIns="0" rtlCol="0" anchor="ctr"/>
          <a:lstStyle/>
          <a:p>
            <a:pPr indent="0" marL="0">
              <a:buNone/>
            </a:pPr>
            <a:r>
              <a:rPr lang="en-US" sz="1350" b="1" dirty="0">
                <a:solidFill>
                  <a:schemeClr val="tx1"/>
                </a:solidFill>
              </a:rPr>
              <a:t>2030 outcomes, US$ bn</a:t>
            </a:r>
            <a:endParaRPr lang="en-US" sz="1350" dirty="0"/>
          </a:p>
        </p:txBody>
      </p:sp>
      <p:graphicFrame>
        <p:nvGraphicFramePr>
          <p:cNvPr id="14" name="fc-table"/>
          <p:cNvGraphicFramePr>
            <a:graphicFrameLocks noGrp="1"/>
          </p:cNvGraphicFramePr>
          <p:nvPr>
            <p:extLst>
              <p:ext uri="{D42A27DB-BD31-4B8C-83A1-F6EECF244321}">
                <p14:modId xmlns:p14="http://schemas.microsoft.com/office/powerpoint/2010/main" val="1579011935"/>
              </p:ext>
            </p:extLst>
          </p:nvPr>
        </p:nvGraphicFramePr>
        <p:xfrm>
          <a:off x="8183880" y="1463040"/>
          <a:ext cx="3447288" cy="914400"/>
        </p:xfrm>
        <a:graphic>
          <a:graphicData uri="http://schemas.openxmlformats.org/drawingml/2006/table">
            <a:tbl>
              <a:tblPr/>
              <a:tblGrid>
                <a:gridCol w="1554480"/>
                <a:gridCol w="978408"/>
                <a:gridCol w="914400"/>
              </a:tblGrid>
              <a:tr h="301752">
                <a:tc>
                  <a:txBody>
                    <a:bodyPr/>
                    <a:lstStyle/>
                    <a:p>
                      <a:pPr indent="0" marL="0">
                        <a:buNone/>
                      </a:pPr>
                      <a:r>
                        <a:rPr lang="en-US" sz="1050" b="1" dirty="0">
                          <a:solidFill>
                            <a:schemeClr val="tx1"/>
                          </a:solidFill>
                        </a:rPr>
                        <a:t>Forecast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2030</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vs IMF</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b="1" dirty="0">
                          <a:solidFill>
                            <a:schemeClr val="tx1"/>
                          </a:solidFill>
                        </a:rPr>
                        <a:t>IMF staff</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b="1" dirty="0">
                          <a:solidFill>
                            <a:schemeClr val="tx1"/>
                          </a:solidFill>
                        </a:rPr>
                        <a:t>6,173</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chemeClr val="tx1"/>
                          </a:solidFill>
                        </a:rPr>
                        <a:t>Holt mult. trend</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5,248</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C44536"/>
                          </a:solidFill>
                        </a:rPr>
                        <a:t>-15.0%</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050" dirty="0">
                          <a:solidFill>
                            <a:schemeClr val="tx1"/>
                          </a:solidFill>
                        </a:rPr>
                        <a:t>Holt additive</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chemeClr val="tx1"/>
                          </a:solidFill>
                        </a:rPr>
                        <a:t>4,715</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c>
                  <a:txBody>
                    <a:bodyPr/>
                    <a:lstStyle/>
                    <a:p>
                      <a:pPr algn="r" indent="0" marL="0">
                        <a:buNone/>
                      </a:pPr>
                      <a:r>
                        <a:rPr lang="en-US" sz="1050" dirty="0">
                          <a:solidFill>
                            <a:srgbClr val="C44536"/>
                          </a:solidFill>
                        </a:rPr>
                        <a:t>-23.6%</a:t>
                      </a:r>
                      <a:endParaRPr lang="en-US" sz="1050" dirty="0"/>
                    </a:p>
                  </a:txBody>
                  <a:tcPr marL="54864" marR="54864" marT="54864" marB="54864" anchor="ctr">
                    <a:lnL w="6350" cap="flat" cmpd="sng" algn="ctr">
                      <a:solidFill>
                        <a:srgbClr val="D8E0EA"/>
                      </a:solidFill>
                      <a:prstDash val="solid"/>
                      <a:round/>
                      <a:headEnd type="none" w="med" len="med"/>
                      <a:tailEnd type="none" w="med" len="med"/>
                    </a:lnL>
                    <a:lnR w="6350" cap="flat" cmpd="sng" algn="ctr">
                      <a:solidFill>
                        <a:srgbClr val="D8E0EA"/>
                      </a:solidFill>
                      <a:prstDash val="solid"/>
                      <a:round/>
                      <a:headEnd type="none" w="med" len="med"/>
                      <a:tailEnd type="none" w="med" len="med"/>
                    </a:lnR>
                    <a:lnT w="6350" cap="flat" cmpd="sng" algn="ctr">
                      <a:solidFill>
                        <a:srgbClr val="D8E0EA"/>
                      </a:solidFill>
                      <a:prstDash val="solid"/>
                      <a:round/>
                      <a:headEnd type="none" w="med" len="med"/>
                      <a:tailEnd type="none" w="med" len="med"/>
                    </a:lnT>
                    <a:lnB w="6350" cap="flat" cmpd="sng" algn="ctr">
                      <a:solidFill>
                        <a:srgbClr val="D8E0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183880" y="2816352"/>
            <a:ext cx="3447288" cy="292608"/>
          </a:xfrm>
          <a:prstGeom prst="rect">
            <a:avLst/>
          </a:prstGeom>
          <a:noFill/>
          <a:ln/>
        </p:spPr>
        <p:txBody>
          <a:bodyPr wrap="square" lIns="0" tIns="0" rIns="0" bIns="0" rtlCol="0" anchor="ctr"/>
          <a:lstStyle/>
          <a:p>
            <a:pPr indent="0" marL="0">
              <a:buNone/>
            </a:pPr>
            <a:r>
              <a:rPr lang="en-US" sz="1350" b="1" dirty="0">
                <a:solidFill>
                  <a:schemeClr val="tx1"/>
                </a:solidFill>
              </a:rPr>
              <a:t>Decomposing the gap</a:t>
            </a:r>
            <a:endParaRPr lang="en-US" sz="1350" dirty="0"/>
          </a:p>
        </p:txBody>
      </p:sp>
      <p:sp>
        <p:nvSpPr>
          <p:cNvPr id="7" name="Text 3"/>
          <p:cNvSpPr txBox="1"/>
          <p:nvPr/>
        </p:nvSpPr>
        <p:spPr>
          <a:xfrm>
            <a:off x="8183880" y="3163824"/>
            <a:ext cx="3447288" cy="1737360"/>
          </a:xfrm>
          <a:prstGeom prst="rect">
            <a:avLst/>
          </a:prstGeom>
          <a:noFill/>
          <a:ln/>
        </p:spPr>
        <p:txBody>
          <a:bodyPr wrap="square" lIns="0" tIns="0" rIns="0" bIns="0" rtlCol="0" anchor="ctr"/>
          <a:lstStyle/>
          <a:p>
            <a:pPr indent="0" marL="0">
              <a:lnSpc>
                <a:spcPct val="112000"/>
              </a:lnSpc>
              <a:buNone/>
            </a:pPr>
            <a:r>
              <a:rPr lang="en-US" sz="1100" b="1" dirty="0">
                <a:solidFill>
                  <a:srgbClr val="2E5A88"/>
                </a:solidFill>
              </a:rPr>
              <a:t>Functional form.  </a:t>
            </a:r>
            <a:pPr indent="0" marL="0">
              <a:lnSpc>
                <a:spcPct val="112000"/>
              </a:lnSpc>
              <a:buNone/>
            </a:pPr>
            <a:r>
              <a:rPr lang="en-US" sz="1100" dirty="0">
                <a:solidFill>
                  <a:srgbClr val="3D4B5C"/>
                </a:solidFill>
              </a:rPr>
              <a:t>A constant-increment model cannot track a compounding path — worth ~9 pp of the gap.</a:t>
            </a:r>
            <a:endParaRPr lang="en-US" sz="1100" dirty="0"/>
          </a:p>
          <a:p>
            <a:pPr indent="0" marL="0">
              <a:lnSpc>
                <a:spcPct val="112000"/>
              </a:lnSpc>
              <a:buNone/>
            </a:pPr>
            <a:endParaRPr lang="en-US" sz="1100" dirty="0"/>
          </a:p>
          <a:p>
            <a:pPr indent="0" marL="0">
              <a:lnSpc>
                <a:spcPct val="112000"/>
              </a:lnSpc>
              <a:buNone/>
            </a:pPr>
            <a:r>
              <a:rPr lang="en-US" sz="1100" b="1" dirty="0">
                <a:solidFill>
                  <a:srgbClr val="C44536"/>
                </a:solidFill>
              </a:rPr>
              <a:t>Assumed acceleration.  </a:t>
            </a:r>
            <a:endParaRPr lang="en-US" sz="1100" dirty="0"/>
          </a:p>
          <a:p>
            <a:pPr indent="0" marL="0">
              <a:lnSpc>
                <a:spcPct val="112000"/>
              </a:lnSpc>
              <a:buNone/>
            </a:pPr>
            <a:r>
              <a:rPr lang="en-US" sz="1100" dirty="0">
                <a:solidFill>
                  <a:srgbClr val="3D4B5C"/>
                </a:solidFill>
              </a:rPr>
              <a:t>The IMF's implied 9.5% nominal CAGR exceeds India's realised 6.3% over 2016–2025.</a:t>
            </a:r>
            <a:endParaRPr lang="en-US" sz="1100" dirty="0"/>
          </a:p>
        </p:txBody>
      </p:sp>
      <p:sp>
        <p:nvSpPr>
          <p:cNvPr id="8" name="cagr-0"/>
          <p:cNvSpPr/>
          <p:nvPr/>
        </p:nvSpPr>
        <p:spPr>
          <a:xfrm>
            <a:off x="566928" y="5047488"/>
            <a:ext cx="2377440" cy="548640"/>
          </a:xfrm>
          <a:prstGeom prst="roundRect">
            <a:avLst>
              <a:gd name="adj" fmla="val 10000"/>
            </a:avLst>
          </a:prstGeom>
          <a:solidFill>
            <a:schemeClr val="bg2"/>
          </a:solidFill>
          <a:ln w="12700">
            <a:solidFill>
              <a:schemeClr val="bg2"/>
            </a:solidFill>
            <a:prstDash val="solid"/>
          </a:ln>
        </p:spPr>
      </p:sp>
      <p:sp>
        <p:nvSpPr>
          <p:cNvPr id="9" name="Text 5"/>
          <p:cNvSpPr txBox="1"/>
          <p:nvPr/>
        </p:nvSpPr>
        <p:spPr>
          <a:xfrm>
            <a:off x="676656" y="5047488"/>
            <a:ext cx="868680" cy="548640"/>
          </a:xfrm>
          <a:prstGeom prst="rect">
            <a:avLst/>
          </a:prstGeom>
          <a:noFill/>
          <a:ln/>
        </p:spPr>
        <p:txBody>
          <a:bodyPr wrap="square" lIns="0" tIns="0" rIns="0" bIns="0" rtlCol="0" anchor="ctr"/>
          <a:lstStyle/>
          <a:p>
            <a:pPr algn="ctr" indent="0" marL="0">
              <a:buNone/>
            </a:pPr>
            <a:r>
              <a:rPr lang="en-US" sz="1700" b="1" dirty="0">
                <a:solidFill>
                  <a:schemeClr val="accent1"/>
                </a:solidFill>
              </a:rPr>
              <a:t>6.3%</a:t>
            </a:r>
            <a:endParaRPr lang="en-US" sz="1700" dirty="0"/>
          </a:p>
        </p:txBody>
      </p:sp>
      <p:sp>
        <p:nvSpPr>
          <p:cNvPr id="10" name="Text 6"/>
          <p:cNvSpPr txBox="1"/>
          <p:nvPr/>
        </p:nvSpPr>
        <p:spPr>
          <a:xfrm>
            <a:off x="1554480" y="5047488"/>
            <a:ext cx="1316736" cy="548640"/>
          </a:xfrm>
          <a:prstGeom prst="rect">
            <a:avLst/>
          </a:prstGeom>
          <a:noFill/>
          <a:ln/>
        </p:spPr>
        <p:txBody>
          <a:bodyPr wrap="square" lIns="0" tIns="0" rIns="0" bIns="0" rtlCol="0" anchor="ctr"/>
          <a:lstStyle/>
          <a:p>
            <a:pPr indent="0" marL="0">
              <a:buNone/>
            </a:pPr>
            <a:r>
              <a:rPr lang="en-US" sz="1050" dirty="0">
                <a:solidFill>
                  <a:srgbClr val="5A6B7D"/>
                </a:solidFill>
              </a:rPr>
              <a:t>Realised 2016–25</a:t>
            </a:r>
            <a:endParaRPr lang="en-US" sz="1050" dirty="0"/>
          </a:p>
        </p:txBody>
      </p:sp>
      <p:sp>
        <p:nvSpPr>
          <p:cNvPr id="11" name="cagr-1"/>
          <p:cNvSpPr/>
          <p:nvPr/>
        </p:nvSpPr>
        <p:spPr>
          <a:xfrm>
            <a:off x="3108960" y="5047488"/>
            <a:ext cx="2377440" cy="548640"/>
          </a:xfrm>
          <a:prstGeom prst="roundRect">
            <a:avLst>
              <a:gd name="adj" fmla="val 10000"/>
            </a:avLst>
          </a:prstGeom>
          <a:solidFill>
            <a:schemeClr val="bg2"/>
          </a:solidFill>
          <a:ln w="12700">
            <a:solidFill>
              <a:schemeClr val="bg2"/>
            </a:solidFill>
            <a:prstDash val="solid"/>
          </a:ln>
        </p:spPr>
      </p:sp>
      <p:sp>
        <p:nvSpPr>
          <p:cNvPr id="12" name="Text 8"/>
          <p:cNvSpPr txBox="1"/>
          <p:nvPr/>
        </p:nvSpPr>
        <p:spPr>
          <a:xfrm>
            <a:off x="3218688" y="5047488"/>
            <a:ext cx="868680" cy="548640"/>
          </a:xfrm>
          <a:prstGeom prst="rect">
            <a:avLst/>
          </a:prstGeom>
          <a:noFill/>
          <a:ln/>
        </p:spPr>
        <p:txBody>
          <a:bodyPr wrap="square" lIns="0" tIns="0" rIns="0" bIns="0" rtlCol="0" anchor="ctr"/>
          <a:lstStyle/>
          <a:p>
            <a:pPr algn="ctr" indent="0" marL="0">
              <a:buNone/>
            </a:pPr>
            <a:r>
              <a:rPr lang="en-US" sz="1700" b="1" dirty="0">
                <a:solidFill>
                  <a:schemeClr val="accent3"/>
                </a:solidFill>
              </a:rPr>
              <a:t>6.0%</a:t>
            </a:r>
            <a:endParaRPr lang="en-US" sz="1700" dirty="0"/>
          </a:p>
        </p:txBody>
      </p:sp>
      <p:sp>
        <p:nvSpPr>
          <p:cNvPr id="13" name="Text 9"/>
          <p:cNvSpPr txBox="1"/>
          <p:nvPr/>
        </p:nvSpPr>
        <p:spPr>
          <a:xfrm>
            <a:off x="4096512" y="5047488"/>
            <a:ext cx="1316736" cy="548640"/>
          </a:xfrm>
          <a:prstGeom prst="rect">
            <a:avLst/>
          </a:prstGeom>
          <a:noFill/>
          <a:ln/>
        </p:spPr>
        <p:txBody>
          <a:bodyPr wrap="square" lIns="0" tIns="0" rIns="0" bIns="0" rtlCol="0" anchor="ctr"/>
          <a:lstStyle/>
          <a:p>
            <a:pPr indent="0" marL="0">
              <a:buNone/>
            </a:pPr>
            <a:r>
              <a:rPr lang="en-US" sz="1050" dirty="0">
                <a:solidFill>
                  <a:srgbClr val="5A6B7D"/>
                </a:solidFill>
              </a:rPr>
              <a:t>Holt forecast</a:t>
            </a:r>
            <a:endParaRPr lang="en-US" sz="1050" dirty="0"/>
          </a:p>
        </p:txBody>
      </p:sp>
      <p:sp>
        <p:nvSpPr>
          <p:cNvPr id="14" name="cagr-2"/>
          <p:cNvSpPr/>
          <p:nvPr/>
        </p:nvSpPr>
        <p:spPr>
          <a:xfrm>
            <a:off x="5650992" y="5047488"/>
            <a:ext cx="2377440" cy="548640"/>
          </a:xfrm>
          <a:prstGeom prst="roundRect">
            <a:avLst>
              <a:gd name="adj" fmla="val 10000"/>
            </a:avLst>
          </a:prstGeom>
          <a:solidFill>
            <a:schemeClr val="bg2"/>
          </a:solidFill>
          <a:ln w="12700">
            <a:solidFill>
              <a:schemeClr val="bg2"/>
            </a:solidFill>
            <a:prstDash val="solid"/>
          </a:ln>
        </p:spPr>
      </p:sp>
      <p:sp>
        <p:nvSpPr>
          <p:cNvPr id="15" name="Text 11"/>
          <p:cNvSpPr txBox="1"/>
          <p:nvPr/>
        </p:nvSpPr>
        <p:spPr>
          <a:xfrm>
            <a:off x="5760720" y="5047488"/>
            <a:ext cx="868680" cy="548640"/>
          </a:xfrm>
          <a:prstGeom prst="rect">
            <a:avLst/>
          </a:prstGeom>
          <a:noFill/>
          <a:ln/>
        </p:spPr>
        <p:txBody>
          <a:bodyPr wrap="square" lIns="0" tIns="0" rIns="0" bIns="0" rtlCol="0" anchor="ctr"/>
          <a:lstStyle/>
          <a:p>
            <a:pPr algn="ctr" indent="0" marL="0">
              <a:buNone/>
            </a:pPr>
            <a:r>
              <a:rPr lang="en-US" sz="1700" b="1" dirty="0">
                <a:solidFill>
                  <a:schemeClr val="accent2"/>
                </a:solidFill>
              </a:rPr>
              <a:t>9.5%</a:t>
            </a:r>
            <a:endParaRPr lang="en-US" sz="1700" dirty="0"/>
          </a:p>
        </p:txBody>
      </p:sp>
      <p:sp>
        <p:nvSpPr>
          <p:cNvPr id="16" name="Text 12"/>
          <p:cNvSpPr txBox="1"/>
          <p:nvPr/>
        </p:nvSpPr>
        <p:spPr>
          <a:xfrm>
            <a:off x="6638544" y="5047488"/>
            <a:ext cx="1316736" cy="548640"/>
          </a:xfrm>
          <a:prstGeom prst="rect">
            <a:avLst/>
          </a:prstGeom>
          <a:noFill/>
          <a:ln/>
        </p:spPr>
        <p:txBody>
          <a:bodyPr wrap="square" lIns="0" tIns="0" rIns="0" bIns="0" rtlCol="0" anchor="ctr"/>
          <a:lstStyle/>
          <a:p>
            <a:pPr indent="0" marL="0">
              <a:buNone/>
            </a:pPr>
            <a:r>
              <a:rPr lang="en-US" sz="1050" dirty="0">
                <a:solidFill>
                  <a:srgbClr val="5A6B7D"/>
                </a:solidFill>
              </a:rPr>
              <a:t>IMF 2025–30</a:t>
            </a:r>
            <a:endParaRPr lang="en-US" sz="1050" dirty="0"/>
          </a:p>
        </p:txBody>
      </p:sp>
      <p:sp>
        <p:nvSpPr>
          <p:cNvPr id="17" name="Text 13"/>
          <p:cNvSpPr txBox="1"/>
          <p:nvPr/>
        </p:nvSpPr>
        <p:spPr>
          <a:xfrm>
            <a:off x="8183880" y="5047488"/>
            <a:ext cx="3447288" cy="548640"/>
          </a:xfrm>
          <a:prstGeom prst="rect">
            <a:avLst/>
          </a:prstGeom>
          <a:noFill/>
          <a:ln/>
        </p:spPr>
        <p:txBody>
          <a:bodyPr wrap="square" lIns="0" tIns="0" rIns="0" bIns="0" rtlCol="0" anchor="ctr"/>
          <a:lstStyle/>
          <a:p>
            <a:pPr indent="0" marL="0">
              <a:buNone/>
            </a:pPr>
            <a:r>
              <a:rPr lang="en-US" sz="1100" i="1" dirty="0">
                <a:solidFill>
                  <a:srgbClr val="9AA7B6"/>
                </a:solidFill>
              </a:rPr>
              <a:t>Implied nominal CAGR</a:t>
            </a:r>
            <a:endParaRPr lang="en-US" sz="1100" dirty="0"/>
          </a:p>
        </p:txBody>
      </p:sp>
      <p:sp>
        <p:nvSpPr>
          <p:cNvPr id="18"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19"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The IMF's India projection is not trend persistence — it embeds a 3.3 pp acceleration no univariate model can see.</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66928" y="347472"/>
            <a:ext cx="11064240" cy="685800"/>
          </a:xfrm>
          <a:prstGeom prst="rect">
            <a:avLst/>
          </a:prstGeom>
          <a:noFill/>
          <a:ln/>
        </p:spPr>
        <p:txBody>
          <a:bodyPr wrap="square" rtlCol="0" anchor="ctr"/>
          <a:lstStyle/>
          <a:p>
            <a:pPr indent="0" marL="0">
              <a:buNone/>
            </a:pPr>
            <a:r>
              <a:rPr lang="en-US" sz="3000" b="1" dirty="0">
                <a:solidFill>
                  <a:schemeClr val="tx1"/>
                </a:solidFill>
              </a:rPr>
              <a:t>Conclusions</a:t>
            </a:r>
            <a:endParaRPr lang="en-US" sz="3000" dirty="0"/>
          </a:p>
        </p:txBody>
      </p:sp>
      <p:sp>
        <p:nvSpPr>
          <p:cNvPr id="3" name="find-0"/>
          <p:cNvSpPr/>
          <p:nvPr/>
        </p:nvSpPr>
        <p:spPr>
          <a:xfrm>
            <a:off x="566928" y="1097280"/>
            <a:ext cx="5321808" cy="1280160"/>
          </a:xfrm>
          <a:prstGeom prst="roundRect">
            <a:avLst>
              <a:gd name="adj" fmla="val 4286"/>
            </a:avLst>
          </a:prstGeom>
          <a:solidFill>
            <a:schemeClr val="bg2"/>
          </a:solidFill>
          <a:ln w="12700">
            <a:solidFill>
              <a:schemeClr val="bg2"/>
            </a:solidFill>
            <a:prstDash val="solid"/>
          </a:ln>
        </p:spPr>
      </p:sp>
      <p:sp>
        <p:nvSpPr>
          <p:cNvPr id="4" name="find-dot-0"/>
          <p:cNvSpPr/>
          <p:nvPr/>
        </p:nvSpPr>
        <p:spPr>
          <a:xfrm>
            <a:off x="786384" y="1536192"/>
            <a:ext cx="402336" cy="402336"/>
          </a:xfrm>
          <a:prstGeom prst="ellipse">
            <a:avLst/>
          </a:prstGeom>
          <a:solidFill>
            <a:schemeClr val="accent1"/>
          </a:solidFill>
          <a:ln w="12700">
            <a:solidFill>
              <a:schemeClr val="accent1"/>
            </a:solidFill>
            <a:prstDash val="solid"/>
          </a:ln>
        </p:spPr>
      </p:sp>
      <p:sp>
        <p:nvSpPr>
          <p:cNvPr id="5" name="Text 3"/>
          <p:cNvSpPr txBox="1"/>
          <p:nvPr/>
        </p:nvSpPr>
        <p:spPr>
          <a:xfrm>
            <a:off x="786384" y="1536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335024" y="1261872"/>
            <a:ext cx="4389120" cy="329184"/>
          </a:xfrm>
          <a:prstGeom prst="rect">
            <a:avLst/>
          </a:prstGeom>
          <a:noFill/>
          <a:ln/>
        </p:spPr>
        <p:txBody>
          <a:bodyPr wrap="square" lIns="0" tIns="0" rIns="0" bIns="0" rtlCol="0" anchor="ctr"/>
          <a:lstStyle/>
          <a:p>
            <a:pPr indent="0" marL="0">
              <a:buNone/>
            </a:pPr>
            <a:r>
              <a:rPr lang="en-US" sz="1350" b="1" dirty="0">
                <a:solidFill>
                  <a:schemeClr val="tx1"/>
                </a:solidFill>
              </a:rPr>
              <a:t>Three levers explain resilience</a:t>
            </a:r>
            <a:endParaRPr lang="en-US" sz="1350" dirty="0"/>
          </a:p>
        </p:txBody>
      </p:sp>
      <p:sp>
        <p:nvSpPr>
          <p:cNvPr id="7" name="Text 5"/>
          <p:cNvSpPr txBox="1"/>
          <p:nvPr/>
        </p:nvSpPr>
        <p:spPr>
          <a:xfrm>
            <a:off x="1335024" y="1609344"/>
            <a:ext cx="4389120" cy="676656"/>
          </a:xfrm>
          <a:prstGeom prst="rect">
            <a:avLst/>
          </a:prstGeom>
          <a:noFill/>
          <a:ln/>
        </p:spPr>
        <p:txBody>
          <a:bodyPr wrap="square" lIns="0" tIns="0" rIns="0" bIns="0" rtlCol="0" anchor="t"/>
          <a:lstStyle/>
          <a:p>
            <a:pPr indent="0" marL="0">
              <a:lnSpc>
                <a:spcPct val="106000"/>
              </a:lnSpc>
              <a:buNone/>
            </a:pPr>
            <a:r>
              <a:rPr lang="en-US" sz="1050" dirty="0">
                <a:solidFill>
                  <a:srgbClr val="3D4B5C"/>
                </a:solidFill>
              </a:rPr>
              <a:t>Growth, debt and inflation rank 1-2-3 by standardised β, by log-odds and by Gini importance — 99.5% of the tree's splitting power.</a:t>
            </a:r>
            <a:endParaRPr lang="en-US" sz="1050" dirty="0"/>
          </a:p>
        </p:txBody>
      </p:sp>
      <p:sp>
        <p:nvSpPr>
          <p:cNvPr id="8" name="find-1"/>
          <p:cNvSpPr/>
          <p:nvPr/>
        </p:nvSpPr>
        <p:spPr>
          <a:xfrm>
            <a:off x="6309360" y="1097280"/>
            <a:ext cx="5321808" cy="1280160"/>
          </a:xfrm>
          <a:prstGeom prst="roundRect">
            <a:avLst>
              <a:gd name="adj" fmla="val 4286"/>
            </a:avLst>
          </a:prstGeom>
          <a:solidFill>
            <a:schemeClr val="bg2"/>
          </a:solidFill>
          <a:ln w="12700">
            <a:solidFill>
              <a:schemeClr val="bg2"/>
            </a:solidFill>
            <a:prstDash val="solid"/>
          </a:ln>
        </p:spPr>
      </p:sp>
      <p:sp>
        <p:nvSpPr>
          <p:cNvPr id="9" name="find-dot-1"/>
          <p:cNvSpPr/>
          <p:nvPr/>
        </p:nvSpPr>
        <p:spPr>
          <a:xfrm>
            <a:off x="6528816" y="1536192"/>
            <a:ext cx="402336" cy="402336"/>
          </a:xfrm>
          <a:prstGeom prst="ellipse">
            <a:avLst/>
          </a:prstGeom>
          <a:solidFill>
            <a:schemeClr val="accent4"/>
          </a:solidFill>
          <a:ln w="12700">
            <a:solidFill>
              <a:schemeClr val="accent4"/>
            </a:solidFill>
            <a:prstDash val="solid"/>
          </a:ln>
        </p:spPr>
      </p:sp>
      <p:sp>
        <p:nvSpPr>
          <p:cNvPr id="10" name="Text 8"/>
          <p:cNvSpPr txBox="1"/>
          <p:nvPr/>
        </p:nvSpPr>
        <p:spPr>
          <a:xfrm>
            <a:off x="6528816" y="15361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7077456" y="1261872"/>
            <a:ext cx="4389120" cy="329184"/>
          </a:xfrm>
          <a:prstGeom prst="rect">
            <a:avLst/>
          </a:prstGeom>
          <a:noFill/>
          <a:ln/>
        </p:spPr>
        <p:txBody>
          <a:bodyPr wrap="square" lIns="0" tIns="0" rIns="0" bIns="0" rtlCol="0" anchor="ctr"/>
          <a:lstStyle/>
          <a:p>
            <a:pPr indent="0" marL="0">
              <a:buNone/>
            </a:pPr>
            <a:r>
              <a:rPr lang="en-US" sz="1350" b="1" dirty="0">
                <a:solidFill>
                  <a:schemeClr val="tx1"/>
                </a:solidFill>
              </a:rPr>
              <a:t>Being rich ≠ being resilient</a:t>
            </a:r>
            <a:endParaRPr lang="en-US" sz="1350" dirty="0"/>
          </a:p>
        </p:txBody>
      </p:sp>
      <p:sp>
        <p:nvSpPr>
          <p:cNvPr id="12" name="Text 10"/>
          <p:cNvSpPr txBox="1"/>
          <p:nvPr/>
        </p:nvSpPr>
        <p:spPr>
          <a:xfrm>
            <a:off x="7077456" y="1609344"/>
            <a:ext cx="4389120" cy="676656"/>
          </a:xfrm>
          <a:prstGeom prst="rect">
            <a:avLst/>
          </a:prstGeom>
          <a:noFill/>
          <a:ln/>
        </p:spPr>
        <p:txBody>
          <a:bodyPr wrap="square" lIns="0" tIns="0" rIns="0" bIns="0" rtlCol="0" anchor="t"/>
          <a:lstStyle/>
          <a:p>
            <a:pPr indent="0" marL="0">
              <a:lnSpc>
                <a:spcPct val="106000"/>
              </a:lnSpc>
              <a:buNone/>
            </a:pPr>
            <a:r>
              <a:rPr lang="en-US" sz="1050" dirty="0">
                <a:solidFill>
                  <a:srgbClr val="3D4B5C"/>
                </a:solidFill>
              </a:rPr>
              <a:t>GDP per capita is the one feature backward elimination removes (p = 0.38). Resilience is about policy outcomes, not development level.</a:t>
            </a:r>
            <a:endParaRPr lang="en-US" sz="1050" dirty="0"/>
          </a:p>
        </p:txBody>
      </p:sp>
      <p:sp>
        <p:nvSpPr>
          <p:cNvPr id="13" name="find-2"/>
          <p:cNvSpPr/>
          <p:nvPr/>
        </p:nvSpPr>
        <p:spPr>
          <a:xfrm>
            <a:off x="566928" y="2560320"/>
            <a:ext cx="5321808" cy="1280160"/>
          </a:xfrm>
          <a:prstGeom prst="roundRect">
            <a:avLst>
              <a:gd name="adj" fmla="val 4286"/>
            </a:avLst>
          </a:prstGeom>
          <a:solidFill>
            <a:schemeClr val="bg2"/>
          </a:solidFill>
          <a:ln w="12700">
            <a:solidFill>
              <a:schemeClr val="bg2"/>
            </a:solidFill>
            <a:prstDash val="solid"/>
          </a:ln>
        </p:spPr>
      </p:sp>
      <p:sp>
        <p:nvSpPr>
          <p:cNvPr id="14" name="find-dot-2"/>
          <p:cNvSpPr/>
          <p:nvPr/>
        </p:nvSpPr>
        <p:spPr>
          <a:xfrm>
            <a:off x="786384" y="2999232"/>
            <a:ext cx="402336" cy="402336"/>
          </a:xfrm>
          <a:prstGeom prst="ellipse">
            <a:avLst/>
          </a:prstGeom>
          <a:solidFill>
            <a:schemeClr val="accent3"/>
          </a:solidFill>
          <a:ln w="12700">
            <a:solidFill>
              <a:schemeClr val="accent3"/>
            </a:solidFill>
            <a:prstDash val="solid"/>
          </a:ln>
        </p:spPr>
      </p:sp>
      <p:sp>
        <p:nvSpPr>
          <p:cNvPr id="15" name="Text 13"/>
          <p:cNvSpPr txBox="1"/>
          <p:nvPr/>
        </p:nvSpPr>
        <p:spPr>
          <a:xfrm>
            <a:off x="786384" y="2999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1335024" y="2724912"/>
            <a:ext cx="4389120" cy="329184"/>
          </a:xfrm>
          <a:prstGeom prst="rect">
            <a:avLst/>
          </a:prstGeom>
          <a:noFill/>
          <a:ln/>
        </p:spPr>
        <p:txBody>
          <a:bodyPr wrap="square" lIns="0" tIns="0" rIns="0" bIns="0" rtlCol="0" anchor="ctr"/>
          <a:lstStyle/>
          <a:p>
            <a:pPr indent="0" marL="0">
              <a:buNone/>
            </a:pPr>
            <a:r>
              <a:rPr lang="en-US" sz="1350" b="1" dirty="0">
                <a:solidFill>
                  <a:schemeClr val="tx1"/>
                </a:solidFill>
              </a:rPr>
              <a:t>Near-perfect separability</a:t>
            </a:r>
            <a:endParaRPr lang="en-US" sz="1350" dirty="0"/>
          </a:p>
        </p:txBody>
      </p:sp>
      <p:sp>
        <p:nvSpPr>
          <p:cNvPr id="17" name="Text 15"/>
          <p:cNvSpPr txBox="1"/>
          <p:nvPr/>
        </p:nvSpPr>
        <p:spPr>
          <a:xfrm>
            <a:off x="1335024" y="3072384"/>
            <a:ext cx="4389120" cy="676656"/>
          </a:xfrm>
          <a:prstGeom prst="rect">
            <a:avLst/>
          </a:prstGeom>
          <a:noFill/>
          <a:ln/>
        </p:spPr>
        <p:txBody>
          <a:bodyPr wrap="square" lIns="0" tIns="0" rIns="0" bIns="0" rtlCol="0" anchor="t"/>
          <a:lstStyle/>
          <a:p>
            <a:pPr indent="0" marL="0">
              <a:lnSpc>
                <a:spcPct val="106000"/>
              </a:lnSpc>
              <a:buNone/>
            </a:pPr>
            <a:r>
              <a:rPr lang="en-US" sz="1050" dirty="0">
                <a:solidFill>
                  <a:srgbClr val="3D4B5C"/>
                </a:solidFill>
              </a:rPr>
              <a:t>High-resilience status classifies at AUC 0.995. The linear model beating the tree signals a close-to-linear boundary.</a:t>
            </a:r>
            <a:endParaRPr lang="en-US" sz="1050" dirty="0"/>
          </a:p>
        </p:txBody>
      </p:sp>
      <p:sp>
        <p:nvSpPr>
          <p:cNvPr id="18" name="find-3"/>
          <p:cNvSpPr/>
          <p:nvPr/>
        </p:nvSpPr>
        <p:spPr>
          <a:xfrm>
            <a:off x="6309360" y="2560320"/>
            <a:ext cx="5321808" cy="1280160"/>
          </a:xfrm>
          <a:prstGeom prst="roundRect">
            <a:avLst>
              <a:gd name="adj" fmla="val 4286"/>
            </a:avLst>
          </a:prstGeom>
          <a:solidFill>
            <a:schemeClr val="bg2"/>
          </a:solidFill>
          <a:ln w="12700">
            <a:solidFill>
              <a:schemeClr val="bg2"/>
            </a:solidFill>
            <a:prstDash val="solid"/>
          </a:ln>
        </p:spPr>
      </p:sp>
      <p:sp>
        <p:nvSpPr>
          <p:cNvPr id="19" name="find-dot-3"/>
          <p:cNvSpPr/>
          <p:nvPr/>
        </p:nvSpPr>
        <p:spPr>
          <a:xfrm>
            <a:off x="6528816" y="2999232"/>
            <a:ext cx="402336" cy="402336"/>
          </a:xfrm>
          <a:prstGeom prst="ellipse">
            <a:avLst/>
          </a:prstGeom>
          <a:solidFill>
            <a:schemeClr val="accent6"/>
          </a:solidFill>
          <a:ln w="12700">
            <a:solidFill>
              <a:schemeClr val="accent6"/>
            </a:solidFill>
            <a:prstDash val="solid"/>
          </a:ln>
        </p:spPr>
      </p:sp>
      <p:sp>
        <p:nvSpPr>
          <p:cNvPr id="20" name="Text 18"/>
          <p:cNvSpPr txBox="1"/>
          <p:nvPr/>
        </p:nvSpPr>
        <p:spPr>
          <a:xfrm>
            <a:off x="6528816" y="29992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7077456" y="2724912"/>
            <a:ext cx="4389120" cy="329184"/>
          </a:xfrm>
          <a:prstGeom prst="rect">
            <a:avLst/>
          </a:prstGeom>
          <a:noFill/>
          <a:ln/>
        </p:spPr>
        <p:txBody>
          <a:bodyPr wrap="square" lIns="0" tIns="0" rIns="0" bIns="0" rtlCol="0" anchor="ctr"/>
          <a:lstStyle/>
          <a:p>
            <a:pPr indent="0" marL="0">
              <a:buNone/>
            </a:pPr>
            <a:r>
              <a:rPr lang="en-US" sz="1350" b="1" dirty="0">
                <a:solidFill>
                  <a:schemeClr val="tx1"/>
                </a:solidFill>
              </a:rPr>
              <a:t>Structure dictates method</a:t>
            </a:r>
            <a:endParaRPr lang="en-US" sz="1350" dirty="0"/>
          </a:p>
        </p:txBody>
      </p:sp>
      <p:sp>
        <p:nvSpPr>
          <p:cNvPr id="22" name="Text 20"/>
          <p:cNvSpPr txBox="1"/>
          <p:nvPr/>
        </p:nvSpPr>
        <p:spPr>
          <a:xfrm>
            <a:off x="7077456" y="3072384"/>
            <a:ext cx="4389120" cy="676656"/>
          </a:xfrm>
          <a:prstGeom prst="rect">
            <a:avLst/>
          </a:prstGeom>
          <a:noFill/>
          <a:ln/>
        </p:spPr>
        <p:txBody>
          <a:bodyPr wrap="square" lIns="0" tIns="0" rIns="0" bIns="0" rtlCol="0" anchor="t"/>
          <a:lstStyle/>
          <a:p>
            <a:pPr indent="0" marL="0">
              <a:lnSpc>
                <a:spcPct val="106000"/>
              </a:lnSpc>
              <a:buNone/>
            </a:pPr>
            <a:r>
              <a:rPr lang="en-US" sz="1050" dirty="0">
                <a:solidFill>
                  <a:srgbClr val="3D4B5C"/>
                </a:solidFill>
              </a:rPr>
              <a:t>Against a trending series, level-only methods are structurally biased: MAPE 19.8% versus 5.3% once trend is modelled.</a:t>
            </a:r>
            <a:endParaRPr lang="en-US" sz="1050" dirty="0"/>
          </a:p>
        </p:txBody>
      </p:sp>
      <p:sp>
        <p:nvSpPr>
          <p:cNvPr id="23" name="find-4"/>
          <p:cNvSpPr/>
          <p:nvPr/>
        </p:nvSpPr>
        <p:spPr>
          <a:xfrm>
            <a:off x="566928" y="4023360"/>
            <a:ext cx="5321808" cy="1280160"/>
          </a:xfrm>
          <a:prstGeom prst="roundRect">
            <a:avLst>
              <a:gd name="adj" fmla="val 4286"/>
            </a:avLst>
          </a:prstGeom>
          <a:solidFill>
            <a:schemeClr val="bg2"/>
          </a:solidFill>
          <a:ln w="12700">
            <a:solidFill>
              <a:schemeClr val="bg2"/>
            </a:solidFill>
            <a:prstDash val="solid"/>
          </a:ln>
        </p:spPr>
      </p:sp>
      <p:sp>
        <p:nvSpPr>
          <p:cNvPr id="24" name="find-dot-4"/>
          <p:cNvSpPr/>
          <p:nvPr/>
        </p:nvSpPr>
        <p:spPr>
          <a:xfrm>
            <a:off x="786384" y="4462272"/>
            <a:ext cx="402336" cy="402336"/>
          </a:xfrm>
          <a:prstGeom prst="ellipse">
            <a:avLst/>
          </a:prstGeom>
          <a:solidFill>
            <a:schemeClr val="accent2"/>
          </a:solidFill>
          <a:ln w="12700">
            <a:solidFill>
              <a:schemeClr val="accent2"/>
            </a:solidFill>
            <a:prstDash val="solid"/>
          </a:ln>
        </p:spPr>
      </p:sp>
      <p:sp>
        <p:nvSpPr>
          <p:cNvPr id="25" name="Text 23"/>
          <p:cNvSpPr txBox="1"/>
          <p:nvPr/>
        </p:nvSpPr>
        <p:spPr>
          <a:xfrm>
            <a:off x="786384" y="44622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4"/>
          <p:cNvSpPr txBox="1"/>
          <p:nvPr/>
        </p:nvSpPr>
        <p:spPr>
          <a:xfrm>
            <a:off x="1335024" y="4187952"/>
            <a:ext cx="4389120" cy="329184"/>
          </a:xfrm>
          <a:prstGeom prst="rect">
            <a:avLst/>
          </a:prstGeom>
          <a:noFill/>
          <a:ln/>
        </p:spPr>
        <p:txBody>
          <a:bodyPr wrap="square" lIns="0" tIns="0" rIns="0" bIns="0" rtlCol="0" anchor="ctr"/>
          <a:lstStyle/>
          <a:p>
            <a:pPr indent="0" marL="0">
              <a:buNone/>
            </a:pPr>
            <a:r>
              <a:rPr lang="en-US" sz="1350" b="1" dirty="0">
                <a:solidFill>
                  <a:schemeClr val="tx1"/>
                </a:solidFill>
              </a:rPr>
              <a:t>The gap measures judgement</a:t>
            </a:r>
            <a:endParaRPr lang="en-US" sz="1350" dirty="0"/>
          </a:p>
        </p:txBody>
      </p:sp>
      <p:sp>
        <p:nvSpPr>
          <p:cNvPr id="27" name="Text 25"/>
          <p:cNvSpPr txBox="1"/>
          <p:nvPr/>
        </p:nvSpPr>
        <p:spPr>
          <a:xfrm>
            <a:off x="1335024" y="4535424"/>
            <a:ext cx="4389120" cy="676656"/>
          </a:xfrm>
          <a:prstGeom prst="rect">
            <a:avLst/>
          </a:prstGeom>
          <a:noFill/>
          <a:ln/>
        </p:spPr>
        <p:txBody>
          <a:bodyPr wrap="square" lIns="0" tIns="0" rIns="0" bIns="0" rtlCol="0" anchor="t"/>
          <a:lstStyle/>
          <a:p>
            <a:pPr indent="0" marL="0">
              <a:lnSpc>
                <a:spcPct val="106000"/>
              </a:lnSpc>
              <a:buNone/>
            </a:pPr>
            <a:r>
              <a:rPr lang="en-US" sz="1050" dirty="0">
                <a:solidFill>
                  <a:srgbClr val="3D4B5C"/>
                </a:solidFill>
              </a:rPr>
              <a:t>The IMF's 9.5% implied CAGR exceeds India's realised 6.3%. The distance from the naive baseline quantifies institutional judgement.</a:t>
            </a:r>
            <a:endParaRPr lang="en-US" sz="1050" dirty="0"/>
          </a:p>
        </p:txBody>
      </p:sp>
      <p:sp>
        <p:nvSpPr>
          <p:cNvPr id="28" name="limits-card"/>
          <p:cNvSpPr/>
          <p:nvPr/>
        </p:nvSpPr>
        <p:spPr>
          <a:xfrm>
            <a:off x="6309360" y="4023360"/>
            <a:ext cx="5321808" cy="1280160"/>
          </a:xfrm>
          <a:prstGeom prst="roundRect">
            <a:avLst>
              <a:gd name="adj" fmla="val 4286"/>
            </a:avLst>
          </a:prstGeom>
          <a:solidFill>
            <a:srgbClr val="FDF4E3"/>
          </a:solidFill>
          <a:ln w="12700">
            <a:solidFill>
              <a:srgbClr val="FDF4E3"/>
            </a:solidFill>
            <a:prstDash val="solid"/>
          </a:ln>
        </p:spPr>
      </p:sp>
      <p:sp>
        <p:nvSpPr>
          <p:cNvPr id="29" name="Text 27"/>
          <p:cNvSpPr txBox="1"/>
          <p:nvPr/>
        </p:nvSpPr>
        <p:spPr>
          <a:xfrm>
            <a:off x="6528816" y="4133088"/>
            <a:ext cx="4882896" cy="292608"/>
          </a:xfrm>
          <a:prstGeom prst="rect">
            <a:avLst/>
          </a:prstGeom>
          <a:noFill/>
          <a:ln/>
        </p:spPr>
        <p:txBody>
          <a:bodyPr wrap="square" lIns="0" tIns="0" rIns="0" bIns="0" rtlCol="0" anchor="ctr"/>
          <a:lstStyle/>
          <a:p>
            <a:pPr indent="0" marL="0">
              <a:buNone/>
            </a:pPr>
            <a:r>
              <a:rPr lang="en-US" sz="1350" b="1" dirty="0">
                <a:solidFill>
                  <a:srgbClr val="8A6410"/>
                </a:solidFill>
              </a:rPr>
              <a:t>Limitations</a:t>
            </a:r>
            <a:endParaRPr lang="en-US" sz="1350" dirty="0"/>
          </a:p>
        </p:txBody>
      </p:sp>
      <p:sp>
        <p:nvSpPr>
          <p:cNvPr id="30" name="Text 28"/>
          <p:cNvSpPr txBox="1"/>
          <p:nvPr/>
        </p:nvSpPr>
        <p:spPr>
          <a:xfrm>
            <a:off x="6528816" y="4462272"/>
            <a:ext cx="4882896" cy="768096"/>
          </a:xfrm>
          <a:prstGeom prst="rect">
            <a:avLst/>
          </a:prstGeom>
          <a:noFill/>
          <a:ln/>
        </p:spPr>
        <p:txBody>
          <a:bodyPr wrap="square" lIns="0" tIns="0" rIns="0" bIns="0" rtlCol="0" anchor="ctr"/>
          <a:lstStyle/>
          <a:p>
            <a:pPr indent="0" marL="0">
              <a:lnSpc>
                <a:spcPct val="106000"/>
              </a:lnSpc>
              <a:buNone/>
            </a:pPr>
            <a:r>
              <a:rPr lang="en-US" sz="1000" dirty="0">
                <a:solidFill>
                  <a:srgbClr val="6B4E10"/>
                </a:solidFill>
              </a:rPr>
              <a:t>Panel observations are not independent, so standard errors are optimistic — fixed effects are the next step. Unemployment is imputed for 44% of rows. The resilience index is a vendor composite. The forecast rests on ten annual observations for one country.</a:t>
            </a:r>
            <a:endParaRPr lang="en-US" sz="1000" dirty="0"/>
          </a:p>
        </p:txBody>
      </p:sp>
      <p:sp>
        <p:nvSpPr>
          <p:cNvPr id="31" name="takeaway-card"/>
          <p:cNvSpPr/>
          <p:nvPr/>
        </p:nvSpPr>
        <p:spPr>
          <a:xfrm>
            <a:off x="566928" y="5742432"/>
            <a:ext cx="11064240" cy="566928"/>
          </a:xfrm>
          <a:prstGeom prst="roundRect">
            <a:avLst>
              <a:gd name="adj" fmla="val 9677"/>
            </a:avLst>
          </a:prstGeom>
          <a:solidFill>
            <a:schemeClr val="bg2"/>
          </a:solidFill>
          <a:ln w="12700">
            <a:solidFill>
              <a:schemeClr val="bg2"/>
            </a:solidFill>
            <a:prstDash val="solid"/>
          </a:ln>
        </p:spPr>
      </p:sp>
      <p:sp>
        <p:nvSpPr>
          <p:cNvPr id="32" name="takeaway-text"/>
          <p:cNvSpPr txBox="1"/>
          <p:nvPr/>
        </p:nvSpPr>
        <p:spPr>
          <a:xfrm>
            <a:off x="777240" y="5742432"/>
            <a:ext cx="10698480" cy="566928"/>
          </a:xfrm>
          <a:prstGeom prst="rect">
            <a:avLst/>
          </a:prstGeom>
          <a:noFill/>
          <a:ln/>
        </p:spPr>
        <p:txBody>
          <a:bodyPr wrap="square" lIns="0" tIns="0" rIns="0" bIns="0" rtlCol="0" anchor="ctr"/>
          <a:lstStyle/>
          <a:p>
            <a:pPr indent="0" marL="0">
              <a:buNone/>
            </a:pPr>
            <a:r>
              <a:rPr lang="en-US" sz="1100" b="1" dirty="0">
                <a:solidFill>
                  <a:schemeClr val="accent2"/>
                </a:solidFill>
              </a:rPr>
              <a:t>Takeaway   </a:t>
            </a:r>
            <a:pPr indent="0" marL="0">
              <a:buNone/>
            </a:pPr>
            <a:r>
              <a:rPr lang="en-US" sz="1250" dirty="0">
                <a:solidFill>
                  <a:schemeClr val="tx1"/>
                </a:solidFill>
              </a:rPr>
              <a:t>Three fundamentals explain resilience across every method tried; method structure, not parameter tuning, drives forecast accuracy.</a:t>
            </a:r>
            <a:endParaRPr lang="en-US" sz="1250" dirty="0"/>
          </a:p>
        </p:txBody>
      </p:sp>
      <p:sp>
        <p:nvSpPr>
          <p:cNvPr id="25" name="Slide Number Placeholder 0"/>
          <p:cNvSpPr>
            <a:spLocks noGrp="1"/>
          </p:cNvSpPr>
          <p:nvPr>
            <p:ph type="sldNum" sz="quarter" idx="4294967295"/>
          </p:nvPr>
        </p:nvSpPr>
        <p:spPr>
          <a:xfrm>
            <a:off x="11521440" y="641908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7B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822960" y="502920"/>
            <a:ext cx="10515600" cy="822960"/>
          </a:xfrm>
          <a:prstGeom prst="rect">
            <a:avLst/>
          </a:prstGeom>
          <a:noFill/>
          <a:ln/>
        </p:spPr>
        <p:txBody>
          <a:bodyPr wrap="square" rtlCol="0" anchor="ctr"/>
          <a:lstStyle/>
          <a:p>
            <a:pPr indent="0" marL="0">
              <a:buNone/>
            </a:pPr>
            <a:r>
              <a:rPr lang="en-US" sz="3200" b="1" dirty="0">
                <a:solidFill>
                  <a:schemeClr val="bg1"/>
                </a:solidFill>
              </a:rPr>
              <a:t>Thank you</a:t>
            </a:r>
            <a:endParaRPr lang="en-US" sz="3200" dirty="0"/>
          </a:p>
        </p:txBody>
      </p:sp>
      <p:sp>
        <p:nvSpPr>
          <p:cNvPr id="3" name="Text 1"/>
          <p:cNvSpPr txBox="1"/>
          <p:nvPr/>
        </p:nvSpPr>
        <p:spPr>
          <a:xfrm>
            <a:off x="822960" y="1389888"/>
            <a:ext cx="10515600" cy="365760"/>
          </a:xfrm>
          <a:prstGeom prst="rect">
            <a:avLst/>
          </a:prstGeom>
          <a:noFill/>
          <a:ln/>
        </p:spPr>
        <p:txBody>
          <a:bodyPr wrap="square" lIns="0" tIns="0" rIns="0" bIns="0" rtlCol="0" anchor="ctr"/>
          <a:lstStyle/>
          <a:p>
            <a:pPr indent="0" marL="0">
              <a:buNone/>
            </a:pPr>
            <a:r>
              <a:rPr lang="en-US" sz="1600" dirty="0">
                <a:solidFill>
                  <a:srgbClr val="CADCFC"/>
                </a:solidFill>
              </a:rPr>
              <a:t>Questions and discussion welcome</a:t>
            </a:r>
            <a:endParaRPr lang="en-US" sz="1600" dirty="0"/>
          </a:p>
        </p:txBody>
      </p:sp>
      <p:sp>
        <p:nvSpPr>
          <p:cNvPr id="4" name="Text 2"/>
          <p:cNvSpPr txBox="1"/>
          <p:nvPr/>
        </p:nvSpPr>
        <p:spPr>
          <a:xfrm>
            <a:off x="822960" y="2212848"/>
            <a:ext cx="6492240" cy="274320"/>
          </a:xfrm>
          <a:prstGeom prst="rect">
            <a:avLst/>
          </a:prstGeom>
          <a:noFill/>
          <a:ln/>
        </p:spPr>
        <p:txBody>
          <a:bodyPr wrap="square" lIns="0" tIns="0" rIns="0" bIns="0" rtlCol="0" anchor="ctr"/>
          <a:lstStyle/>
          <a:p>
            <a:pPr indent="0" marL="0">
              <a:buNone/>
            </a:pPr>
            <a:r>
              <a:rPr lang="en-US" sz="1050" b="1" spc="150" kern="0" dirty="0">
                <a:solidFill>
                  <a:srgbClr val="D4A017"/>
                </a:solidFill>
              </a:rPr>
              <a:t>WHAT THE ANALYSIS FOUND</a:t>
            </a:r>
            <a:endParaRPr lang="en-US" sz="1050" dirty="0"/>
          </a:p>
        </p:txBody>
      </p:sp>
      <p:sp>
        <p:nvSpPr>
          <p:cNvPr id="5" name="Text 3"/>
          <p:cNvSpPr txBox="1"/>
          <p:nvPr/>
        </p:nvSpPr>
        <p:spPr>
          <a:xfrm>
            <a:off x="822960" y="2560320"/>
            <a:ext cx="6492240" cy="1920240"/>
          </a:xfrm>
          <a:prstGeom prst="rect">
            <a:avLst/>
          </a:prstGeom>
          <a:noFill/>
          <a:ln/>
        </p:spPr>
        <p:txBody>
          <a:bodyPr wrap="square" lIns="0" tIns="0" rIns="0" bIns="0" rtlCol="0" anchor="ctr"/>
          <a:lstStyle/>
          <a:p>
            <a:pPr indent="0" marL="0">
              <a:lnSpc>
                <a:spcPct val="118000"/>
              </a:lnSpc>
              <a:buNone/>
            </a:pPr>
            <a:r>
              <a:rPr lang="en-US" sz="1400" dirty="0">
                <a:solidFill>
                  <a:srgbClr val="FFFFFF"/>
                </a:solidFill>
              </a:rPr>
              <a:t>Growth, debt and inflation explain 87% of a country's economic resilience — and three model families with different assumptions agree on that ranking.</a:t>
            </a:r>
            <a:endParaRPr lang="en-US" sz="1400" dirty="0"/>
          </a:p>
          <a:p>
            <a:pPr indent="0" marL="0">
              <a:lnSpc>
                <a:spcPct val="118000"/>
              </a:lnSpc>
              <a:buNone/>
            </a:pPr>
            <a:endParaRPr lang="en-US" sz="1400" dirty="0"/>
          </a:p>
          <a:p>
            <a:pPr indent="0" marL="0">
              <a:lnSpc>
                <a:spcPct val="118000"/>
              </a:lnSpc>
              <a:buNone/>
            </a:pPr>
            <a:r>
              <a:rPr lang="en-US" sz="1400" dirty="0">
                <a:solidFill>
                  <a:srgbClr val="FFFFFF"/>
                </a:solidFill>
              </a:rPr>
              <a:t>For India, the IMF's path to 2030 implies a 3.3 pp acceleration on the past decade, which a trend-following model cannot see.</a:t>
            </a:r>
            <a:endParaRPr lang="en-US" sz="1400" dirty="0"/>
          </a:p>
        </p:txBody>
      </p:sp>
      <p:sp>
        <p:nvSpPr>
          <p:cNvPr id="6" name="repo-card"/>
          <p:cNvSpPr/>
          <p:nvPr/>
        </p:nvSpPr>
        <p:spPr>
          <a:xfrm>
            <a:off x="7635240" y="2212848"/>
            <a:ext cx="3703320" cy="1920240"/>
          </a:xfrm>
          <a:prstGeom prst="roundRect">
            <a:avLst>
              <a:gd name="adj" fmla="val 3333"/>
            </a:avLst>
          </a:prstGeom>
          <a:solidFill>
            <a:srgbClr val="1E2E4A"/>
          </a:solidFill>
          <a:ln w="15875">
            <a:solidFill>
              <a:srgbClr val="D4A017"/>
            </a:solidFill>
            <a:prstDash val="solid"/>
          </a:ln>
        </p:spPr>
      </p:sp>
      <p:sp>
        <p:nvSpPr>
          <p:cNvPr id="7" name="Text 5"/>
          <p:cNvSpPr txBox="1"/>
          <p:nvPr/>
        </p:nvSpPr>
        <p:spPr>
          <a:xfrm>
            <a:off x="7863840" y="2377440"/>
            <a:ext cx="3246120" cy="274320"/>
          </a:xfrm>
          <a:prstGeom prst="rect">
            <a:avLst/>
          </a:prstGeom>
          <a:noFill/>
          <a:ln/>
        </p:spPr>
        <p:txBody>
          <a:bodyPr wrap="square" lIns="0" tIns="0" rIns="0" bIns="0" rtlCol="0" anchor="ctr"/>
          <a:lstStyle/>
          <a:p>
            <a:pPr indent="0" marL="0">
              <a:buNone/>
            </a:pPr>
            <a:r>
              <a:rPr lang="en-US" sz="1050" b="1" spc="150" kern="0" dirty="0">
                <a:solidFill>
                  <a:srgbClr val="D4A017"/>
                </a:solidFill>
              </a:rPr>
              <a:t>CODE AND DATA</a:t>
            </a:r>
            <a:endParaRPr lang="en-US" sz="1050" dirty="0"/>
          </a:p>
        </p:txBody>
      </p:sp>
      <p:sp>
        <p:nvSpPr>
          <p:cNvPr id="8" name="Text 6"/>
          <p:cNvSpPr txBox="1"/>
          <p:nvPr/>
        </p:nvSpPr>
        <p:spPr>
          <a:xfrm>
            <a:off x="7863840" y="2724912"/>
            <a:ext cx="3246120" cy="1280160"/>
          </a:xfrm>
          <a:prstGeom prst="rect">
            <a:avLst/>
          </a:prstGeom>
          <a:noFill/>
          <a:ln/>
        </p:spPr>
        <p:txBody>
          <a:bodyPr wrap="square" lIns="0" tIns="0" rIns="0" bIns="0" rtlCol="0" anchor="ctr"/>
          <a:lstStyle/>
          <a:p>
            <a:pPr indent="0" marL="0">
              <a:lnSpc>
                <a:spcPct val="110000"/>
              </a:lnSpc>
              <a:buNone/>
            </a:pPr>
            <a:r>
              <a:rPr lang="en-US" sz="1250" dirty="0">
                <a:solidFill>
                  <a:srgbClr val="FFFFFF"/>
                </a:solidFill>
              </a:rPr>
              <a:t>github.com/swayd03/</a:t>
            </a:r>
            <a:endParaRPr lang="en-US" sz="1100" dirty="0"/>
          </a:p>
          <a:p>
            <a:pPr indent="0" marL="0">
              <a:lnSpc>
                <a:spcPct val="110000"/>
              </a:lnSpc>
              <a:buNone/>
            </a:pPr>
            <a:r>
              <a:rPr lang="en-US" sz="1250" dirty="0">
                <a:solidFill>
                  <a:srgbClr val="FFFFFF"/>
                </a:solidFill>
              </a:rPr>
              <a:t>imf-weo-capstone</a:t>
            </a:r>
            <a:endParaRPr lang="en-US" sz="1100" dirty="0"/>
          </a:p>
          <a:p>
            <a:pPr indent="0" marL="0">
              <a:lnSpc>
                <a:spcPct val="110000"/>
              </a:lnSpc>
              <a:buNone/>
            </a:pPr>
            <a:endParaRPr lang="en-US" sz="1100" dirty="0"/>
          </a:p>
          <a:p>
            <a:pPr indent="0" marL="0">
              <a:lnSpc>
                <a:spcPct val="110000"/>
              </a:lnSpc>
              <a:buNone/>
            </a:pPr>
            <a:r>
              <a:rPr lang="en-US" sz="1050" dirty="0">
                <a:solidFill>
                  <a:srgbClr val="8FA6C4"/>
                </a:solidFill>
              </a:rPr>
              <a:t>Notebook, dataset and figures</a:t>
            </a:r>
            <a:endParaRPr lang="en-US" sz="1100" dirty="0"/>
          </a:p>
        </p:txBody>
      </p:sp>
      <p:sp>
        <p:nvSpPr>
          <p:cNvPr id="9" name="submission-card"/>
          <p:cNvSpPr/>
          <p:nvPr/>
        </p:nvSpPr>
        <p:spPr>
          <a:xfrm>
            <a:off x="822960" y="4809744"/>
            <a:ext cx="10515600" cy="658368"/>
          </a:xfrm>
          <a:prstGeom prst="roundRect">
            <a:avLst>
              <a:gd name="adj" fmla="val 8333"/>
            </a:avLst>
          </a:prstGeom>
          <a:solidFill>
            <a:srgbClr val="1E2E4A"/>
          </a:solidFill>
          <a:ln w="12700">
            <a:solidFill>
              <a:srgbClr val="1E2E4A"/>
            </a:solidFill>
            <a:prstDash val="solid"/>
          </a:ln>
        </p:spPr>
      </p:sp>
      <p:sp>
        <p:nvSpPr>
          <p:cNvPr id="10" name="Text 8"/>
          <p:cNvSpPr txBox="1"/>
          <p:nvPr/>
        </p:nvSpPr>
        <p:spPr>
          <a:xfrm>
            <a:off x="1042416" y="4809744"/>
            <a:ext cx="10058400" cy="658368"/>
          </a:xfrm>
          <a:prstGeom prst="rect">
            <a:avLst/>
          </a:prstGeom>
          <a:noFill/>
          <a:ln/>
        </p:spPr>
        <p:txBody>
          <a:bodyPr wrap="square" lIns="0" tIns="0" rIns="0" bIns="0" rtlCol="0" anchor="ctr"/>
          <a:lstStyle/>
          <a:p>
            <a:pPr indent="0" marL="0">
              <a:buNone/>
            </a:pPr>
            <a:r>
              <a:rPr lang="en-US" sz="1200" dirty="0">
                <a:solidFill>
                  <a:srgbClr val="8FA6C4"/>
                </a:solidFill>
              </a:rPr>
              <a:t>Submitted in partial fulfilment of the Predictive Analytics capstone  ·  </a:t>
            </a:r>
            <a:pPr indent="0" marL="0">
              <a:buNone/>
            </a:pPr>
            <a:r>
              <a:rPr lang="en-US" sz="1200" b="1" dirty="0">
                <a:solidFill>
                  <a:srgbClr val="FFFFFF"/>
                </a:solidFill>
              </a:rPr>
              <a:t>Swadha Singh</a:t>
            </a:r>
            <a:pPr indent="0" marL="0">
              <a:buNone/>
            </a:pPr>
            <a:r>
              <a:rPr lang="en-US" sz="1200" dirty="0">
                <a:solidFill>
                  <a:srgbClr val="8FA6C4"/>
                </a:solidFill>
              </a:rPr>
              <a:t>  ·  246101554  ·  Prof. Dr. Varsha P S</a:t>
            </a:r>
            <a:endParaRPr lang="en-US" sz="1200" dirty="0"/>
          </a:p>
        </p:txBody>
      </p:sp>
      <p:sp>
        <p:nvSpPr>
          <p:cNvPr id="11" name="Text 9"/>
          <p:cNvSpPr txBox="1"/>
          <p:nvPr/>
        </p:nvSpPr>
        <p:spPr>
          <a:xfrm>
            <a:off x="822960" y="5806440"/>
            <a:ext cx="10515600" cy="365760"/>
          </a:xfrm>
          <a:prstGeom prst="rect">
            <a:avLst/>
          </a:prstGeom>
          <a:noFill/>
          <a:ln/>
        </p:spPr>
        <p:txBody>
          <a:bodyPr wrap="square" lIns="0" tIns="0" rIns="0" bIns="0" rtlCol="0" anchor="ctr"/>
          <a:lstStyle/>
          <a:p>
            <a:pPr indent="0" marL="0">
              <a:buNone/>
            </a:pPr>
            <a:r>
              <a:rPr lang="en-US" sz="1100" i="1" dirty="0">
                <a:solidFill>
                  <a:srgbClr val="6F86A6"/>
                </a:solidFill>
              </a:rPr>
              <a:t>Methods: OLS · Logistic Regression · Decision Tree · Moving Average · Single &amp; Double Exponential Smoothing</a:t>
            </a:r>
            <a:endParaRPr lang="en-US" sz="1100" dirty="0"/>
          </a:p>
        </p:txBody>
      </p:sp>
    </p:spTree>
  </p:cSld>
  <p:clrMapOvr>
    <a:masterClrMapping/>
  </p:clrMapOvr>
</p:sld>
</file>

<file path=ppt/theme/theme1.xml><?xml version="1.0" encoding="utf-8"?>
<a:theme xmlns:a="http://schemas.openxmlformats.org/drawingml/2006/main" name="IMF Capstone">
  <a:themeElements>
    <a:clrScheme name="IMF Capstone">
      <a:dk1>
        <a:srgbClr val="14213D"/>
      </a:dk1>
      <a:lt1>
        <a:srgbClr val="FFFFFF"/>
      </a:lt1>
      <a:dk2>
        <a:srgbClr val="2E5A88"/>
      </a:dk2>
      <a:lt2>
        <a:srgbClr val="EEF2F7"/>
      </a:lt2>
      <a:accent1>
        <a:srgbClr val="2E5A88"/>
      </a:accent1>
      <a:accent2>
        <a:srgbClr val="C44536"/>
      </a:accent2>
      <a:accent3>
        <a:srgbClr val="3D8361"/>
      </a:accent3>
      <a:accent4>
        <a:srgbClr val="D4A017"/>
      </a:accent4>
      <a:accent5>
        <a:srgbClr val="6B4E71"/>
      </a:accent5>
      <a:accent6>
        <a:srgbClr val="4F7CAC"/>
      </a:accent6>
      <a:hlink>
        <a:srgbClr val="2E5A88"/>
      </a:hlink>
      <a:folHlink>
        <a:srgbClr val="6B4E71"/>
      </a:folHlink>
    </a:clrScheme>
    <a:fontScheme name="IMF Capsto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Drivers of National Economic Resilience</dc:title>
  <dc:subject>Predictive Analytics Capstone — IMF World Economic Outlook, April 2026</dc:subject>
  <dc:creator>Swadha Singh</dc:creator>
  <cp:lastModifiedBy>Swadha Singh</cp:lastModifiedBy>
  <cp:revision>1</cp:revision>
  <dcterms:created xsi:type="dcterms:W3CDTF">2026-10-15T06:14:14Z</dcterms:created>
  <dcterms:modified xsi:type="dcterms:W3CDTF">2026-10-15T06:14:14Z</dcterms:modified>
</cp:coreProperties>
</file>